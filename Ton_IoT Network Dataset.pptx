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8"/>
  </p:notesMasterIdLst>
  <p:sldIdLst>
    <p:sldId id="256" r:id="rId2"/>
    <p:sldId id="257" r:id="rId3"/>
    <p:sldId id="259" r:id="rId4"/>
    <p:sldId id="279" r:id="rId5"/>
    <p:sldId id="260" r:id="rId6"/>
    <p:sldId id="280" r:id="rId7"/>
    <p:sldId id="262" r:id="rId8"/>
    <p:sldId id="263" r:id="rId9"/>
    <p:sldId id="264" r:id="rId10"/>
    <p:sldId id="265" r:id="rId11"/>
    <p:sldId id="281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82" r:id="rId21"/>
    <p:sldId id="274" r:id="rId22"/>
    <p:sldId id="283" r:id="rId23"/>
    <p:sldId id="275" r:id="rId24"/>
    <p:sldId id="276" r:id="rId25"/>
    <p:sldId id="277" r:id="rId26"/>
    <p:sldId id="284" r:id="rId27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0FB0CC-F4F5-4754-B4CA-63E2D35701D5}">
  <a:tblStyle styleId="{CF0FB0CC-F4F5-4754-B4CA-63E2D35701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0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Flow Count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B41-4947-9A11-857CBB5760D9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CB41-4947-9A11-857CBB5760D9}"/>
              </c:ext>
            </c:extLst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CB41-4947-9A11-857CBB5760D9}"/>
              </c:ext>
            </c:extLst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CB41-4947-9A11-857CBB5760D9}"/>
              </c:ext>
            </c:extLst>
          </c:dPt>
          <c:dPt>
            <c:idx val="4"/>
            <c:invertIfNegative val="0"/>
            <c:bubble3D val="0"/>
            <c:spPr>
              <a:solidFill>
                <a:srgbClr val="1AB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CB41-4947-9A11-857CBB5760D9}"/>
              </c:ext>
            </c:extLst>
          </c:dPt>
          <c:dPt>
            <c:idx val="5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CB41-4947-9A11-857CBB5760D9}"/>
              </c:ext>
            </c:extLst>
          </c:dPt>
          <c:dPt>
            <c:idx val="6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CB41-4947-9A11-857CBB5760D9}"/>
              </c:ext>
            </c:extLst>
          </c:dPt>
          <c:dPt>
            <c:idx val="7"/>
            <c:invertIfNegative val="0"/>
            <c:bubble3D val="0"/>
            <c:spPr>
              <a:solidFill>
                <a:srgbClr val="E91E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E-CB41-4947-9A11-857CBB5760D9}"/>
              </c:ext>
            </c:extLst>
          </c:dPt>
          <c:dPt>
            <c:idx val="8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0-CB41-4947-9A11-857CBB5760D9}"/>
              </c:ext>
            </c:extLst>
          </c:dPt>
          <c:dPt>
            <c:idx val="9"/>
            <c:invertIfNegative val="0"/>
            <c:bubble3D val="0"/>
            <c:spPr>
              <a:solidFill>
                <a:srgbClr val="16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2-CB41-4947-9A11-857CBB5760D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Scanning</c:v>
                </c:pt>
                <c:pt idx="1">
                  <c:v>DDoS</c:v>
                </c:pt>
                <c:pt idx="2">
                  <c:v>DoS</c:v>
                </c:pt>
                <c:pt idx="3">
                  <c:v>XSS</c:v>
                </c:pt>
                <c:pt idx="4">
                  <c:v>Password</c:v>
                </c:pt>
                <c:pt idx="5">
                  <c:v>Normal</c:v>
                </c:pt>
                <c:pt idx="6">
                  <c:v>Backdoor</c:v>
                </c:pt>
                <c:pt idx="7">
                  <c:v>Injection</c:v>
                </c:pt>
                <c:pt idx="8">
                  <c:v>Ransomware</c:v>
                </c:pt>
                <c:pt idx="9">
                  <c:v>MITM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7140161</c:v>
                </c:pt>
                <c:pt idx="1">
                  <c:v>6165008</c:v>
                </c:pt>
                <c:pt idx="2">
                  <c:v>3375328</c:v>
                </c:pt>
                <c:pt idx="3">
                  <c:v>2108944</c:v>
                </c:pt>
                <c:pt idx="4">
                  <c:v>1718568</c:v>
                </c:pt>
                <c:pt idx="5">
                  <c:v>796380</c:v>
                </c:pt>
                <c:pt idx="6">
                  <c:v>508116</c:v>
                </c:pt>
                <c:pt idx="7">
                  <c:v>452659</c:v>
                </c:pt>
                <c:pt idx="8">
                  <c:v>72805</c:v>
                </c:pt>
                <c:pt idx="9">
                  <c:v>1052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CB41-4947-9A11-857CBB5760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EF3F8"/>
                </a:solidFill>
                <a:latin typeface="+mj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0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20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479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1372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18080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4" name="Google Shape;35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64429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0" name="Google Shape;54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6" name="Google Shape;58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77304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6" name="Google Shape;58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0" name="Google Shape;62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0" name="Google Shape;62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05262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6" name="Google Shape;58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4219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unsw.edu.au/projects/toniot-dataset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kaggle.com/datasets/97664c131f8f245d82e5e84b03b90875a1de0340a9fcb0069222dc940a81c3a6/versions/5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unsw.edu.au/projects/unsw-nb15-dataset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esearch.unsw.edu.au/projects/bot-iot-dataset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unsw.edu.au/projects/toniot-datasets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+mj-lt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109728"/>
            <a:ext cx="109728" cy="503377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+mj-lt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508476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lang="en-US" sz="46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TON_IoT</a:t>
            </a:r>
            <a:endParaRPr sz="46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02920" y="1468596"/>
            <a:ext cx="4114800" cy="54864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+mj-lt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2920" y="156918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CCF2"/>
              </a:buClr>
              <a:buSzPts val="18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56CCF2"/>
                </a:solidFill>
                <a:latin typeface="+mj-lt"/>
                <a:ea typeface="Calibri"/>
                <a:cs typeface="Calibri"/>
                <a:sym typeface="Calibri"/>
              </a:rPr>
              <a:t>IoT/IIoT datasets designed to benchmark AI-based cybersecurity models</a:t>
            </a:r>
            <a:endParaRPr sz="20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2514600"/>
            <a:ext cx="8046720" cy="1280160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1A30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+mj-l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77240" y="2651760"/>
            <a:ext cx="74980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1300"/>
              <a:buFont typeface="Calibri"/>
              <a:buNone/>
            </a:pPr>
            <a:r>
              <a:rPr lang="en-US" sz="1800" b="0" i="0" u="none" strike="noStrike" cap="none" dirty="0">
                <a:solidFill>
                  <a:srgbClr val="8FA5BF"/>
                </a:solidFill>
                <a:latin typeface="+mj-lt"/>
                <a:ea typeface="Calibri"/>
                <a:cs typeface="Calibri"/>
                <a:sym typeface="Calibri"/>
              </a:rPr>
              <a:t>Based on: </a:t>
            </a:r>
            <a:r>
              <a:rPr lang="en-US" sz="1800" b="0" i="1" u="none" strike="noStrike" cap="none" dirty="0" err="1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Moustafa</a:t>
            </a:r>
            <a:r>
              <a:rPr lang="en-US" sz="1800" b="0" i="1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, N. (2021). A new distributed architecture for evaluating AI-based security systems at the edge: Network TON_IoT datasets. </a:t>
            </a:r>
            <a:r>
              <a:rPr lang="en-US" sz="1800" b="0" i="1" u="none" strike="noStrike" cap="none" dirty="0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Sustainable Cities and Society.</a:t>
            </a: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1200"/>
              <a:buFont typeface="Calibri"/>
              <a:buNone/>
            </a:pPr>
            <a:r>
              <a:rPr lang="en-US" sz="1800" b="0" i="0" u="none" strike="noStrike" cap="none" dirty="0">
                <a:solidFill>
                  <a:srgbClr val="8FA5BF"/>
                </a:solidFill>
                <a:latin typeface="+mj-lt"/>
                <a:ea typeface="Calibri"/>
                <a:cs typeface="Calibri"/>
                <a:sym typeface="Calibri"/>
              </a:rPr>
              <a:t>Presented by: Teresa Jency Bala  |  Khulna University  |  CSE Discipline</a:t>
            </a: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402336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1A3058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+mj-l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02920" y="40233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950"/>
              <a:buFont typeface="Calibri"/>
              <a:buNone/>
            </a:pPr>
            <a:r>
              <a:rPr lang="en-US" b="1" i="0" u="none" strike="noStrike" cap="none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Industry 4.0</a:t>
            </a:r>
            <a:endParaRPr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514600" y="402336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1A3058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+mj-lt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514600" y="40233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950"/>
              <a:buFont typeface="Calibri"/>
              <a:buNone/>
            </a:pPr>
            <a:r>
              <a:rPr lang="en-US" b="1" i="0" u="none" strike="noStrike" cap="none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IoT Security</a:t>
            </a:r>
            <a:endParaRPr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526280" y="402336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1A3058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+mj-lt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526280" y="40233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950"/>
              <a:buFont typeface="Calibri"/>
              <a:buNone/>
            </a:pPr>
            <a:r>
              <a:rPr lang="en-US" b="1" i="0" u="none" strike="noStrike" cap="none" dirty="0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AI / ML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537960" y="402336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1A3058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+mj-lt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537960" y="40233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950"/>
              <a:buFont typeface="Calibri"/>
              <a:buNone/>
            </a:pPr>
            <a:r>
              <a:rPr lang="en-US" b="1" i="0" u="none" strike="noStrike" cap="none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UNSW Canberra</a:t>
            </a:r>
            <a:endParaRPr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E7ACEE-01FE-4772-852E-387AB93066D8}"/>
              </a:ext>
            </a:extLst>
          </p:cNvPr>
          <p:cNvGrpSpPr/>
          <p:nvPr/>
        </p:nvGrpSpPr>
        <p:grpSpPr>
          <a:xfrm>
            <a:off x="365760" y="160020"/>
            <a:ext cx="2011680" cy="262731"/>
            <a:chOff x="365760" y="160020"/>
            <a:chExt cx="2011680" cy="262731"/>
          </a:xfrm>
        </p:grpSpPr>
        <p:sp>
          <p:nvSpPr>
            <p:cNvPr id="37" name="Google Shape;37;p4"/>
            <p:cNvSpPr/>
            <p:nvPr/>
          </p:nvSpPr>
          <p:spPr>
            <a:xfrm>
              <a:off x="365760" y="160020"/>
              <a:ext cx="2011680" cy="256032"/>
            </a:xfrm>
            <a:prstGeom prst="rect">
              <a:avLst/>
            </a:prstGeom>
            <a:solidFill>
              <a:srgbClr val="00C9B1"/>
            </a:solidFill>
            <a:ln w="12700" cap="flat" cmpd="sng">
              <a:solidFill>
                <a:srgbClr val="00C9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latin typeface="+mj-lt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365760" y="166719"/>
              <a:ext cx="2011680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A1628"/>
                </a:buClr>
                <a:buSzPts val="800"/>
                <a:buFont typeface="Calibri"/>
                <a:buNone/>
              </a:pPr>
              <a:r>
                <a:rPr lang="en-US" b="1" i="0" u="none" strike="noStrike" cap="none" dirty="0">
                  <a:solidFill>
                    <a:srgbClr val="0A1628"/>
                  </a:solidFill>
                  <a:latin typeface="+mj-lt"/>
                  <a:ea typeface="Calibri"/>
                  <a:cs typeface="Calibri"/>
                  <a:sym typeface="Calibri"/>
                </a:rPr>
                <a:t>MOTIVATION</a:t>
              </a:r>
              <a:endParaRPr b="0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" name="Google Shape;39;p4"/>
          <p:cNvSpPr/>
          <p:nvPr/>
        </p:nvSpPr>
        <p:spPr>
          <a:xfrm>
            <a:off x="92597" y="429450"/>
            <a:ext cx="895104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Calibri"/>
              <a:buNone/>
            </a:pPr>
            <a:r>
              <a:rPr lang="en-US" sz="32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Why Do We Need IoT-Specific Security Datasets?</a:t>
            </a:r>
            <a:endParaRPr sz="3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65760" y="1024128"/>
            <a:ext cx="8412480" cy="36576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+mj-lt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65760" y="1417320"/>
            <a:ext cx="2651760" cy="3200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+mj-lt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65760" y="1417320"/>
            <a:ext cx="2651760" cy="109728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+mj-lt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7200" y="15544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⚡</a:t>
            </a:r>
            <a:endParaRPr sz="32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11480" y="22402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lang="en-US" sz="15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IoT Devices Are Everywhere</a:t>
            </a:r>
            <a:endParaRPr sz="15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02920" y="2788920"/>
            <a:ext cx="237744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10B+ IoT devices globally generating network traffic and all potentially vulnerable to attack.</a:t>
            </a:r>
            <a:endParaRPr sz="15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200400" y="1417320"/>
            <a:ext cx="2651760" cy="3200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+mj-lt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200400" y="1417320"/>
            <a:ext cx="2651760" cy="109728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+mj-lt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91840" y="15544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🎯</a:t>
            </a:r>
            <a:endParaRPr sz="32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91840" y="2230499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lang="en-US" sz="15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Old Datasets Are Obsolete</a:t>
            </a:r>
            <a:endParaRPr sz="15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337560" y="2788920"/>
            <a:ext cx="237744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KDD99 and DARPA </a:t>
            </a:r>
            <a:r>
              <a:rPr lang="en-US" sz="1500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are among some older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dataset which don't reflect modern IoT protocols, or new attack vectors like ransomware and MQTT-based intrusions.</a:t>
            </a:r>
            <a:endParaRPr sz="15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035040" y="1417320"/>
            <a:ext cx="2651760" cy="3200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+mj-lt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035040" y="1417320"/>
            <a:ext cx="2651760" cy="109728"/>
          </a:xfrm>
          <a:prstGeom prst="rect">
            <a:avLst/>
          </a:prstGeom>
          <a:solidFill>
            <a:srgbClr val="9B59B6"/>
          </a:solidFill>
          <a:ln w="127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+mj-lt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126480" y="15544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🤖</a:t>
            </a:r>
            <a:endParaRPr sz="32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080760" y="224028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</a:pPr>
            <a:r>
              <a:rPr lang="en-US" sz="15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AI Needs Real Labelled Data</a:t>
            </a:r>
            <a:endParaRPr sz="15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172200" y="2765192"/>
            <a:ext cx="251460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Machine &amp; Deep Learning models for intrusion detection must be trained and validated on datasets that mirror actual IoT network behavior </a:t>
            </a:r>
            <a:endParaRPr lang="en-US" sz="1500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not synthetic approximations.</a:t>
            </a:r>
            <a:endParaRPr sz="15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900" b="0" i="1" u="none" strike="noStrike" cap="none" dirty="0">
                <a:solidFill>
                  <a:srgbClr val="94A3B8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9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73;p6">
            <a:extLst>
              <a:ext uri="{FF2B5EF4-FFF2-40B4-BE49-F238E27FC236}">
                <a16:creationId xmlns:a16="http://schemas.microsoft.com/office/drawing/2014/main" id="{CCBBB7C8-A8EF-4C7F-B994-4F8E5D365A35}"/>
              </a:ext>
            </a:extLst>
          </p:cNvPr>
          <p:cNvSpPr/>
          <p:nvPr/>
        </p:nvSpPr>
        <p:spPr>
          <a:xfrm>
            <a:off x="419906" y="114312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</p:txBody>
      </p:sp>
      <p:sp>
        <p:nvSpPr>
          <p:cNvPr id="65" name="Google Shape;74;p6">
            <a:extLst>
              <a:ext uri="{FF2B5EF4-FFF2-40B4-BE49-F238E27FC236}">
                <a16:creationId xmlns:a16="http://schemas.microsoft.com/office/drawing/2014/main" id="{92DC4DDD-C9CD-4D24-95A8-9BC4BA5817CD}"/>
              </a:ext>
            </a:extLst>
          </p:cNvPr>
          <p:cNvSpPr/>
          <p:nvPr/>
        </p:nvSpPr>
        <p:spPr>
          <a:xfrm>
            <a:off x="404080" y="11431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INTRODUCTION</a:t>
            </a:r>
            <a:endParaRPr sz="105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75;p6">
            <a:extLst>
              <a:ext uri="{FF2B5EF4-FFF2-40B4-BE49-F238E27FC236}">
                <a16:creationId xmlns:a16="http://schemas.microsoft.com/office/drawing/2014/main" id="{E5508152-7387-4A95-9500-21F0EC4EAC6E}"/>
              </a:ext>
            </a:extLst>
          </p:cNvPr>
          <p:cNvSpPr/>
          <p:nvPr/>
        </p:nvSpPr>
        <p:spPr>
          <a:xfrm>
            <a:off x="348758" y="3049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What are in the TON_IoT Datasets?</a:t>
            </a:r>
            <a:endParaRPr sz="2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76;p6">
            <a:extLst>
              <a:ext uri="{FF2B5EF4-FFF2-40B4-BE49-F238E27FC236}">
                <a16:creationId xmlns:a16="http://schemas.microsoft.com/office/drawing/2014/main" id="{C41EFA33-B219-4E19-9884-41CE7491E552}"/>
              </a:ext>
            </a:extLst>
          </p:cNvPr>
          <p:cNvSpPr/>
          <p:nvPr/>
        </p:nvSpPr>
        <p:spPr>
          <a:xfrm>
            <a:off x="444837" y="831967"/>
            <a:ext cx="8412480" cy="36576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68" name="Google Shape;113;p6">
            <a:extLst>
              <a:ext uri="{FF2B5EF4-FFF2-40B4-BE49-F238E27FC236}">
                <a16:creationId xmlns:a16="http://schemas.microsoft.com/office/drawing/2014/main" id="{3CB5EAD3-4436-445A-ABF1-B65048E4CD34}"/>
              </a:ext>
            </a:extLst>
          </p:cNvPr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94A3B8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23" name="s213">
            <a:extLst>
              <a:ext uri="{FF2B5EF4-FFF2-40B4-BE49-F238E27FC236}">
                <a16:creationId xmlns:a16="http://schemas.microsoft.com/office/drawing/2014/main" id="{6EAC5B3D-DBED-427D-AD31-A3EFFFC980F3}"/>
              </a:ext>
            </a:extLst>
          </p:cNvPr>
          <p:cNvSpPr/>
          <p:nvPr/>
        </p:nvSpPr>
        <p:spPr>
          <a:xfrm>
            <a:off x="419485" y="918939"/>
            <a:ext cx="4000619" cy="398827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>
              <a:buNone/>
            </a:pPr>
            <a:endParaRPr>
              <a:latin typeface="+mj-lt"/>
            </a:endParaRPr>
          </a:p>
        </p:txBody>
      </p:sp>
      <p:sp>
        <p:nvSpPr>
          <p:cNvPr id="124" name="s214">
            <a:extLst>
              <a:ext uri="{FF2B5EF4-FFF2-40B4-BE49-F238E27FC236}">
                <a16:creationId xmlns:a16="http://schemas.microsoft.com/office/drawing/2014/main" id="{8E53DCCE-4D60-46A8-B5F7-9CBA81702128}"/>
              </a:ext>
            </a:extLst>
          </p:cNvPr>
          <p:cNvSpPr/>
          <p:nvPr/>
        </p:nvSpPr>
        <p:spPr>
          <a:xfrm>
            <a:off x="564720" y="972442"/>
            <a:ext cx="3287079" cy="247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+mj-lt"/>
              </a:rPr>
              <a:t>T - Telemetry (IoT/IIoT)</a:t>
            </a:r>
          </a:p>
        </p:txBody>
      </p:sp>
      <p:sp>
        <p:nvSpPr>
          <p:cNvPr id="125" name="s215">
            <a:extLst>
              <a:ext uri="{FF2B5EF4-FFF2-40B4-BE49-F238E27FC236}">
                <a16:creationId xmlns:a16="http://schemas.microsoft.com/office/drawing/2014/main" id="{CA4F3147-6E3E-4C12-B88A-4A1F886448DA}"/>
              </a:ext>
            </a:extLst>
          </p:cNvPr>
          <p:cNvSpPr/>
          <p:nvPr/>
        </p:nvSpPr>
        <p:spPr>
          <a:xfrm>
            <a:off x="401505" y="1326419"/>
            <a:ext cx="4018599" cy="35347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>
              <a:buNone/>
            </a:pPr>
            <a:endParaRPr dirty="0">
              <a:latin typeface="+mj-lt"/>
            </a:endParaRPr>
          </a:p>
        </p:txBody>
      </p:sp>
      <p:sp>
        <p:nvSpPr>
          <p:cNvPr id="126" name="s216">
            <a:extLst>
              <a:ext uri="{FF2B5EF4-FFF2-40B4-BE49-F238E27FC236}">
                <a16:creationId xmlns:a16="http://schemas.microsoft.com/office/drawing/2014/main" id="{DB915143-94F6-4284-AB80-2BD053FFAAAB}"/>
              </a:ext>
            </a:extLst>
          </p:cNvPr>
          <p:cNvSpPr/>
          <p:nvPr/>
        </p:nvSpPr>
        <p:spPr>
          <a:xfrm>
            <a:off x="419485" y="1309115"/>
            <a:ext cx="4000619" cy="353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10+ sensor types: weather, Modbus, pH, soil moisture</a:t>
            </a:r>
            <a:r>
              <a:rPr lang="en-US" sz="1450" dirty="0">
                <a:solidFill>
                  <a:srgbClr val="1E293B"/>
                </a:solidFill>
                <a:latin typeface="+mj-lt"/>
              </a:rPr>
              <a:t> and more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Protocol: MQTT via Mosquitto broker and Node-RED JavaScript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Format: LOG and CSV files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Captures normal sensor readings AND readings under active attack conditions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34 features, 4 per device type (temperature, humidity, status, location)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Use case: device-level anomaly detection</a:t>
            </a:r>
          </a:p>
        </p:txBody>
      </p:sp>
      <p:sp>
        <p:nvSpPr>
          <p:cNvPr id="127" name="s217">
            <a:extLst>
              <a:ext uri="{FF2B5EF4-FFF2-40B4-BE49-F238E27FC236}">
                <a16:creationId xmlns:a16="http://schemas.microsoft.com/office/drawing/2014/main" id="{DD59026D-4081-47A4-9C4E-DC79ABBE7C85}"/>
              </a:ext>
            </a:extLst>
          </p:cNvPr>
          <p:cNvSpPr/>
          <p:nvPr/>
        </p:nvSpPr>
        <p:spPr>
          <a:xfrm>
            <a:off x="4490831" y="918939"/>
            <a:ext cx="4321494" cy="4062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>
              <a:buNone/>
            </a:pPr>
            <a:endParaRPr dirty="0">
              <a:latin typeface="+mj-lt"/>
            </a:endParaRPr>
          </a:p>
        </p:txBody>
      </p:sp>
      <p:sp>
        <p:nvSpPr>
          <p:cNvPr id="128" name="s218">
            <a:extLst>
              <a:ext uri="{FF2B5EF4-FFF2-40B4-BE49-F238E27FC236}">
                <a16:creationId xmlns:a16="http://schemas.microsoft.com/office/drawing/2014/main" id="{9E5CB07E-F837-41C5-AA30-A166EE2807E9}"/>
              </a:ext>
            </a:extLst>
          </p:cNvPr>
          <p:cNvSpPr/>
          <p:nvPr/>
        </p:nvSpPr>
        <p:spPr>
          <a:xfrm>
            <a:off x="5167205" y="972442"/>
            <a:ext cx="2850320" cy="27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+mj-lt"/>
              </a:rPr>
              <a:t>O - OS Traces (Linux)</a:t>
            </a:r>
          </a:p>
        </p:txBody>
      </p:sp>
      <p:sp>
        <p:nvSpPr>
          <p:cNvPr id="129" name="s219">
            <a:extLst>
              <a:ext uri="{FF2B5EF4-FFF2-40B4-BE49-F238E27FC236}">
                <a16:creationId xmlns:a16="http://schemas.microsoft.com/office/drawing/2014/main" id="{90E4C3F9-3AA5-4D66-B597-813FF91CD587}"/>
              </a:ext>
            </a:extLst>
          </p:cNvPr>
          <p:cNvSpPr/>
          <p:nvPr/>
        </p:nvSpPr>
        <p:spPr>
          <a:xfrm>
            <a:off x="4490831" y="1325191"/>
            <a:ext cx="4307841" cy="3502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>
              <a:buNone/>
            </a:pPr>
            <a:endParaRPr>
              <a:latin typeface="+mj-lt"/>
            </a:endParaRPr>
          </a:p>
        </p:txBody>
      </p:sp>
      <p:sp>
        <p:nvSpPr>
          <p:cNvPr id="130" name="s220">
            <a:extLst>
              <a:ext uri="{FF2B5EF4-FFF2-40B4-BE49-F238E27FC236}">
                <a16:creationId xmlns:a16="http://schemas.microsoft.com/office/drawing/2014/main" id="{3DE62A33-D458-4E30-8D41-E7FC342149BE}"/>
              </a:ext>
            </a:extLst>
          </p:cNvPr>
          <p:cNvSpPr/>
          <p:nvPr/>
        </p:nvSpPr>
        <p:spPr>
          <a:xfrm>
            <a:off x="4572001" y="1334135"/>
            <a:ext cx="4206240" cy="348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Systems: Ubuntu 14 LTS and Ubuntu 18 TLS virtual machines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Collection tool: atop; Linux system activity tracing monitor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Three sub-tables: Disk activity | Memory usage | Process scheduling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34 features across 3 linked sub-tables, all linked via PID column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Format: TXT and CSV 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Use case: Host-based Intrusion Detection (HIDS)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227">
            <a:extLst>
              <a:ext uri="{FF2B5EF4-FFF2-40B4-BE49-F238E27FC236}">
                <a16:creationId xmlns:a16="http://schemas.microsoft.com/office/drawing/2014/main" id="{CEBD6F9B-2899-41E1-8641-FE0303B6D000}"/>
              </a:ext>
            </a:extLst>
          </p:cNvPr>
          <p:cNvSpPr/>
          <p:nvPr/>
        </p:nvSpPr>
        <p:spPr>
          <a:xfrm>
            <a:off x="4595082" y="1311566"/>
            <a:ext cx="4166157" cy="34947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>
              <a:buNone/>
            </a:pPr>
            <a:endParaRPr sz="1800">
              <a:latin typeface="+mj-lt"/>
            </a:endParaRPr>
          </a:p>
        </p:txBody>
      </p:sp>
      <p:sp>
        <p:nvSpPr>
          <p:cNvPr id="133" name="s223">
            <a:extLst>
              <a:ext uri="{FF2B5EF4-FFF2-40B4-BE49-F238E27FC236}">
                <a16:creationId xmlns:a16="http://schemas.microsoft.com/office/drawing/2014/main" id="{3BE52B88-5E92-45DC-B4AC-247BE2B2DDA9}"/>
              </a:ext>
            </a:extLst>
          </p:cNvPr>
          <p:cNvSpPr/>
          <p:nvPr/>
        </p:nvSpPr>
        <p:spPr>
          <a:xfrm>
            <a:off x="266698" y="1261637"/>
            <a:ext cx="4191002" cy="35347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>
              <a:buNone/>
            </a:pPr>
            <a:endParaRPr sz="1800" dirty="0">
              <a:latin typeface="+mj-lt"/>
            </a:endParaRPr>
          </a:p>
        </p:txBody>
      </p:sp>
      <p:sp>
        <p:nvSpPr>
          <p:cNvPr id="131" name="s221">
            <a:extLst>
              <a:ext uri="{FF2B5EF4-FFF2-40B4-BE49-F238E27FC236}">
                <a16:creationId xmlns:a16="http://schemas.microsoft.com/office/drawing/2014/main" id="{D1F0C8AB-EAFE-4489-B6C2-B719AF1B9540}"/>
              </a:ext>
            </a:extLst>
          </p:cNvPr>
          <p:cNvSpPr/>
          <p:nvPr/>
        </p:nvSpPr>
        <p:spPr>
          <a:xfrm>
            <a:off x="261254" y="920327"/>
            <a:ext cx="4191002" cy="421308"/>
          </a:xfrm>
          <a:prstGeom prst="rect">
            <a:avLst/>
          </a:prstGeom>
          <a:solidFill>
            <a:srgbClr val="2E7DB5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>
              <a:buNone/>
            </a:pPr>
            <a:endParaRPr>
              <a:latin typeface="+mj-lt"/>
            </a:endParaRPr>
          </a:p>
        </p:txBody>
      </p:sp>
      <p:sp>
        <p:nvSpPr>
          <p:cNvPr id="64" name="Google Shape;73;p6">
            <a:extLst>
              <a:ext uri="{FF2B5EF4-FFF2-40B4-BE49-F238E27FC236}">
                <a16:creationId xmlns:a16="http://schemas.microsoft.com/office/drawing/2014/main" id="{CCBBB7C8-A8EF-4C7F-B994-4F8E5D365A35}"/>
              </a:ext>
            </a:extLst>
          </p:cNvPr>
          <p:cNvSpPr/>
          <p:nvPr/>
        </p:nvSpPr>
        <p:spPr>
          <a:xfrm>
            <a:off x="419906" y="114312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</p:txBody>
      </p:sp>
      <p:sp>
        <p:nvSpPr>
          <p:cNvPr id="65" name="Google Shape;74;p6">
            <a:extLst>
              <a:ext uri="{FF2B5EF4-FFF2-40B4-BE49-F238E27FC236}">
                <a16:creationId xmlns:a16="http://schemas.microsoft.com/office/drawing/2014/main" id="{92DC4DDD-C9CD-4D24-95A8-9BC4BA5817CD}"/>
              </a:ext>
            </a:extLst>
          </p:cNvPr>
          <p:cNvSpPr/>
          <p:nvPr/>
        </p:nvSpPr>
        <p:spPr>
          <a:xfrm>
            <a:off x="404080" y="11431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INTRODUCTION</a:t>
            </a:r>
            <a:endParaRPr sz="105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75;p6">
            <a:extLst>
              <a:ext uri="{FF2B5EF4-FFF2-40B4-BE49-F238E27FC236}">
                <a16:creationId xmlns:a16="http://schemas.microsoft.com/office/drawing/2014/main" id="{E5508152-7387-4A95-9500-21F0EC4EAC6E}"/>
              </a:ext>
            </a:extLst>
          </p:cNvPr>
          <p:cNvSpPr/>
          <p:nvPr/>
        </p:nvSpPr>
        <p:spPr>
          <a:xfrm>
            <a:off x="348758" y="304960"/>
            <a:ext cx="8412480" cy="51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What are in the TON_IoT Datasets?</a:t>
            </a:r>
            <a:endParaRPr sz="2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76;p6">
            <a:extLst>
              <a:ext uri="{FF2B5EF4-FFF2-40B4-BE49-F238E27FC236}">
                <a16:creationId xmlns:a16="http://schemas.microsoft.com/office/drawing/2014/main" id="{C41EFA33-B219-4E19-9884-41CE7491E552}"/>
              </a:ext>
            </a:extLst>
          </p:cNvPr>
          <p:cNvSpPr/>
          <p:nvPr/>
        </p:nvSpPr>
        <p:spPr>
          <a:xfrm>
            <a:off x="419904" y="792849"/>
            <a:ext cx="8412480" cy="36576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68" name="Google Shape;113;p6">
            <a:extLst>
              <a:ext uri="{FF2B5EF4-FFF2-40B4-BE49-F238E27FC236}">
                <a16:creationId xmlns:a16="http://schemas.microsoft.com/office/drawing/2014/main" id="{3CB5EAD3-4436-445A-ABF1-B65048E4CD34}"/>
              </a:ext>
            </a:extLst>
          </p:cNvPr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94A3B8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32" name="s222">
            <a:extLst>
              <a:ext uri="{FF2B5EF4-FFF2-40B4-BE49-F238E27FC236}">
                <a16:creationId xmlns:a16="http://schemas.microsoft.com/office/drawing/2014/main" id="{3EF215ED-A245-467C-A307-2EC68A735B79}"/>
              </a:ext>
            </a:extLst>
          </p:cNvPr>
          <p:cNvSpPr/>
          <p:nvPr/>
        </p:nvSpPr>
        <p:spPr>
          <a:xfrm>
            <a:off x="506790" y="958071"/>
            <a:ext cx="3333733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+mj-lt"/>
              </a:rPr>
              <a:t>O - OS Traces (Windows)</a:t>
            </a:r>
          </a:p>
        </p:txBody>
      </p:sp>
      <p:sp>
        <p:nvSpPr>
          <p:cNvPr id="134" name="s224">
            <a:extLst>
              <a:ext uri="{FF2B5EF4-FFF2-40B4-BE49-F238E27FC236}">
                <a16:creationId xmlns:a16="http://schemas.microsoft.com/office/drawing/2014/main" id="{3D37F123-EB56-4D7D-8E69-924DECD8ACDE}"/>
              </a:ext>
            </a:extLst>
          </p:cNvPr>
          <p:cNvSpPr/>
          <p:nvPr/>
        </p:nvSpPr>
        <p:spPr>
          <a:xfrm>
            <a:off x="291543" y="1341635"/>
            <a:ext cx="4166157" cy="345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Systems: Windows 7 and Windows 10 virtual machines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Collection tool: Performance Monitor Tool (.blg format converted to CSV)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Five subsystem groups: Processor | Process | Memory | Network | Disk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133 features across 5 subsystem categories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Format: BLG (raw) and CSV (processed)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Use case: Host-based Intrusion Detection (HIDS)</a:t>
            </a:r>
          </a:p>
        </p:txBody>
      </p:sp>
      <p:sp>
        <p:nvSpPr>
          <p:cNvPr id="135" name="s225">
            <a:extLst>
              <a:ext uri="{FF2B5EF4-FFF2-40B4-BE49-F238E27FC236}">
                <a16:creationId xmlns:a16="http://schemas.microsoft.com/office/drawing/2014/main" id="{E703E037-F85B-4757-9F46-B3D311D18E7E}"/>
              </a:ext>
            </a:extLst>
          </p:cNvPr>
          <p:cNvSpPr/>
          <p:nvPr/>
        </p:nvSpPr>
        <p:spPr>
          <a:xfrm>
            <a:off x="4608891" y="930258"/>
            <a:ext cx="4152347" cy="4213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>
              <a:buNone/>
            </a:pPr>
            <a:endParaRPr sz="1800">
              <a:latin typeface="+mj-lt"/>
            </a:endParaRPr>
          </a:p>
        </p:txBody>
      </p:sp>
      <p:sp>
        <p:nvSpPr>
          <p:cNvPr id="136" name="s226">
            <a:extLst>
              <a:ext uri="{FF2B5EF4-FFF2-40B4-BE49-F238E27FC236}">
                <a16:creationId xmlns:a16="http://schemas.microsoft.com/office/drawing/2014/main" id="{C6F7D69A-DFA8-4F46-96C9-814DAAB2B0BD}"/>
              </a:ext>
            </a:extLst>
          </p:cNvPr>
          <p:cNvSpPr/>
          <p:nvPr/>
        </p:nvSpPr>
        <p:spPr>
          <a:xfrm>
            <a:off x="4922162" y="930733"/>
            <a:ext cx="3511995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+mj-lt"/>
              </a:rPr>
              <a:t>N </a:t>
            </a:r>
            <a:r>
              <a:rPr lang="en-US" sz="1600" b="1" dirty="0">
                <a:solidFill>
                  <a:srgbClr val="FFFFFF"/>
                </a:solidFill>
                <a:latin typeface="+mj-lt"/>
              </a:rPr>
              <a:t>- 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+mj-lt"/>
              </a:rPr>
              <a:t>Network Traffic </a:t>
            </a:r>
            <a:r>
              <a:rPr lang="en-US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[OUR FOCUS]</a:t>
            </a:r>
            <a:endParaRPr lang="en-US" sz="1600" b="1" i="0" u="none" strike="noStrike" cap="none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s228">
            <a:extLst>
              <a:ext uri="{FF2B5EF4-FFF2-40B4-BE49-F238E27FC236}">
                <a16:creationId xmlns:a16="http://schemas.microsoft.com/office/drawing/2014/main" id="{DB0CEF4B-0704-450E-A713-6CB9ECDDEEF4}"/>
              </a:ext>
            </a:extLst>
          </p:cNvPr>
          <p:cNvSpPr/>
          <p:nvPr/>
        </p:nvSpPr>
        <p:spPr>
          <a:xfrm>
            <a:off x="4770120" y="1351567"/>
            <a:ext cx="4004927" cy="345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~8.54 million flow records from all testbed VMs, IoT devices, and cloud services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Collection tool: ZEEK (Bro) framework processing raw PCAP packet captures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44 features: connection, protocol, DNS, HTTP, SSL, anomaly indicator groups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Multi-class label: 9 attack types: DoS, DDoS, Backdoor, Injection, and more</a:t>
            </a: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50" b="0" i="0" u="none" strike="noStrike" cap="none" dirty="0">
              <a:solidFill>
                <a:srgbClr val="1E293B"/>
              </a:solidFill>
              <a:latin typeface="+mj-lt"/>
            </a:endParaRPr>
          </a:p>
          <a:p>
            <a:pPr marL="285750" marR="0" lvl="0" indent="-285750" algn="l" rtl="0">
              <a:spcBef>
                <a:spcPts val="5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50" b="0" i="0" u="none" strike="noStrike" cap="none" dirty="0">
                <a:solidFill>
                  <a:srgbClr val="1E293B"/>
                </a:solidFill>
                <a:latin typeface="+mj-lt"/>
              </a:rPr>
              <a:t>Use case: Network-based IDS (NIDS): ML/DL classification tasks</a:t>
            </a:r>
          </a:p>
        </p:txBody>
      </p:sp>
    </p:spTree>
    <p:extLst>
      <p:ext uri="{BB962C8B-B14F-4D97-AF65-F5344CB8AC3E}">
        <p14:creationId xmlns:p14="http://schemas.microsoft.com/office/powerpoint/2010/main" val="2649275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365760" y="256032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+mj-lt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65760" y="2560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105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Dataset</a:t>
            </a:r>
            <a:endParaRPr sz="105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65760" y="490728"/>
            <a:ext cx="84124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The Ton_IoT dataset</a:t>
            </a:r>
            <a:endParaRPr sz="2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65760" y="1002792"/>
            <a:ext cx="8412480" cy="36576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+mj-lt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800"/>
              <a:buFont typeface="Calibri"/>
              <a:buNone/>
            </a:pPr>
            <a:r>
              <a:rPr lang="en-US" sz="1050" b="0" i="1" u="none" strike="noStrike" cap="none">
                <a:solidFill>
                  <a:srgbClr val="8FA5BF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105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2512ED-A5EF-48FA-8B3C-757CA8799F50}"/>
              </a:ext>
            </a:extLst>
          </p:cNvPr>
          <p:cNvSpPr txBox="1"/>
          <p:nvPr/>
        </p:nvSpPr>
        <p:spPr>
          <a:xfrm>
            <a:off x="533400" y="1263500"/>
            <a:ext cx="155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 Link</a:t>
            </a:r>
            <a:endParaRPr lang="en-US" sz="2000" dirty="0">
              <a:solidFill>
                <a:srgbClr val="00B0F0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A84F24-BC71-467D-A8D8-E75B3CE6B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270" y="1263500"/>
            <a:ext cx="6450330" cy="3499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F74E1D-43B6-4839-8799-47D9399ED32B}"/>
              </a:ext>
            </a:extLst>
          </p:cNvPr>
          <p:cNvSpPr txBox="1"/>
          <p:nvPr/>
        </p:nvSpPr>
        <p:spPr>
          <a:xfrm>
            <a:off x="533400" y="1940634"/>
            <a:ext cx="1005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latin typeface="+mj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</a:t>
            </a:r>
            <a:endParaRPr lang="en-US" sz="2000" dirty="0">
              <a:solidFill>
                <a:srgbClr val="00B0F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365760" y="256032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65760" y="2560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ARCHITECTURE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65760" y="420624"/>
            <a:ext cx="8412480" cy="508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The Testbed: Edge - Fog - Cloud IoT Architecture</a:t>
            </a:r>
            <a:endParaRPr sz="2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65759" y="928687"/>
            <a:ext cx="8621077" cy="45719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65760" y="1072420"/>
            <a:ext cx="8621078" cy="960120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65760" y="1072420"/>
            <a:ext cx="1737360" cy="960120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65760" y="1066705"/>
            <a:ext cx="17373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50"/>
              <a:buFont typeface="Calibri"/>
              <a:buNone/>
            </a:pPr>
            <a:r>
              <a:rPr lang="en-US" sz="15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CLOUD LAYER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50"/>
              <a:buFont typeface="Calibri"/>
              <a:buNone/>
            </a:pPr>
            <a:r>
              <a:rPr lang="en-US" sz="1500" b="1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(headquarter)</a:t>
            </a:r>
            <a:endParaRPr sz="15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103120" y="1145572"/>
            <a:ext cx="336232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Orchestrated Server (VMware NSX </a:t>
            </a:r>
            <a:r>
              <a:rPr lang="en-US" sz="1200" b="0" i="0" u="none" strike="noStrike" cap="none" dirty="0" err="1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vCloud</a:t>
            </a: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 NFV)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Cloud Analytics &amp; Visualization Services</a:t>
            </a:r>
            <a:endParaRPr lang="en-US"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65760" y="2372868"/>
            <a:ext cx="8621076" cy="960120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65760" y="2372868"/>
            <a:ext cx="1737360" cy="960120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65760" y="2372868"/>
            <a:ext cx="17373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50"/>
              <a:buFont typeface="Calibri"/>
              <a:buNone/>
            </a:pPr>
            <a:r>
              <a:rPr lang="en-US" sz="15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FOG LAYER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50"/>
              <a:buFont typeface="Calibri"/>
              <a:buNone/>
            </a:pPr>
            <a:r>
              <a:rPr lang="en-US" sz="1500" b="1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(local office)</a:t>
            </a:r>
            <a:endParaRPr sz="15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2103121" y="2446020"/>
            <a:ext cx="3509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VMware NSX Data Center (vSphere Controller)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SDN Management &amp; NFV Data Cluster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Middleware Server: FTP, DNS, Email, Kerberos, DHCP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65760" y="3657600"/>
            <a:ext cx="8621078" cy="960120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56CC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65760" y="3657600"/>
            <a:ext cx="1737360" cy="960120"/>
          </a:xfrm>
          <a:prstGeom prst="rect">
            <a:avLst/>
          </a:prstGeom>
          <a:solidFill>
            <a:srgbClr val="56CCF2"/>
          </a:solidFill>
          <a:ln w="12700" cap="flat" cmpd="sng">
            <a:solidFill>
              <a:srgbClr val="56CC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65760" y="3657600"/>
            <a:ext cx="17373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50"/>
              <a:buFont typeface="Calibri"/>
              <a:buNone/>
            </a:pPr>
            <a:r>
              <a:rPr lang="en-US" sz="15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EDGE LAYER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50"/>
              <a:buFont typeface="Calibri"/>
              <a:buNone/>
            </a:pPr>
            <a:r>
              <a:rPr lang="en-US" sz="1500" b="1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(physical layer)</a:t>
            </a:r>
            <a:endParaRPr sz="15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103120" y="3730752"/>
            <a:ext cx="3509961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IoT/IIoT Devices: Weather sensors, Modbus, Smart Phones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Host Systems: HP workstations, Dell laptops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Physical Gateways: Routers &amp; Switches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357563" y="2116836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800"/>
              <a:buFont typeface="Calibri"/>
              <a:buNone/>
            </a:pPr>
            <a:r>
              <a:rPr lang="en-US" sz="1200" b="0" u="none" strike="noStrike" cap="none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⬇ SDN/NFV Communication</a:t>
            </a:r>
            <a:endParaRPr sz="1200" b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471864" y="3402997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800"/>
              <a:buFont typeface="Calibri"/>
              <a:buNone/>
            </a:pPr>
            <a:r>
              <a:rPr lang="en-US" sz="1200" b="0" u="none" strike="noStrike" cap="none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⬇ Internet Service / Physical Gateways</a:t>
            </a:r>
            <a:endParaRPr sz="1200" b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8FA5BF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26;p7">
            <a:extLst>
              <a:ext uri="{FF2B5EF4-FFF2-40B4-BE49-F238E27FC236}">
                <a16:creationId xmlns:a16="http://schemas.microsoft.com/office/drawing/2014/main" id="{3B700C74-45DD-4293-9FED-A13B82024E93}"/>
              </a:ext>
            </a:extLst>
          </p:cNvPr>
          <p:cNvSpPr/>
          <p:nvPr/>
        </p:nvSpPr>
        <p:spPr>
          <a:xfrm>
            <a:off x="5618797" y="1155097"/>
            <a:ext cx="3268027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Telemetry Logger via HTTPS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Public HIVE MQTT Dashboard</a:t>
            </a:r>
            <a:endParaRPr lang="en-US"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Public Vulnerable Websites (attack targets)</a:t>
            </a:r>
            <a:endParaRPr lang="en-US"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0;p7">
            <a:extLst>
              <a:ext uri="{FF2B5EF4-FFF2-40B4-BE49-F238E27FC236}">
                <a16:creationId xmlns:a16="http://schemas.microsoft.com/office/drawing/2014/main" id="{11A7B7D9-D3DC-4A22-A1F3-118F73EB8333}"/>
              </a:ext>
            </a:extLst>
          </p:cNvPr>
          <p:cNvSpPr/>
          <p:nvPr/>
        </p:nvSpPr>
        <p:spPr>
          <a:xfrm>
            <a:off x="5613081" y="2441448"/>
            <a:ext cx="3509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Security Onion (NIDS monitoring)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Kali Linux VMs (attack launchers)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Metasploitable3 &amp; DVWA (vulnerable targets)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Ostinato Traffic Generator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4;p7">
            <a:extLst>
              <a:ext uri="{FF2B5EF4-FFF2-40B4-BE49-F238E27FC236}">
                <a16:creationId xmlns:a16="http://schemas.microsoft.com/office/drawing/2014/main" id="{CC98A8E7-1A74-4574-93B1-9684A2958EE6}"/>
              </a:ext>
            </a:extLst>
          </p:cNvPr>
          <p:cNvSpPr/>
          <p:nvPr/>
        </p:nvSpPr>
        <p:spPr>
          <a:xfrm>
            <a:off x="5664995" y="3741991"/>
            <a:ext cx="332184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Windows 7/10 VMs, Ubuntu 14/18 TLS VMs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Node-Red JS (MQTT), </a:t>
            </a:r>
            <a:r>
              <a:rPr lang="en-US" sz="1200" b="0" i="0" u="none" strike="noStrike" cap="none" dirty="0" err="1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Mosquitto</a:t>
            </a: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 MQTT Broker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7974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365760" y="256032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+mj-lt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65760" y="2560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NETWORK DATASET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365760" y="429768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TON_IoT Network Dataset - At a Glance</a:t>
            </a:r>
            <a:endParaRPr sz="3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65760" y="1106424"/>
            <a:ext cx="8412480" cy="36576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365760" y="1265046"/>
            <a:ext cx="1965960" cy="815958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365760" y="1267124"/>
            <a:ext cx="1965960" cy="52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3000"/>
              <a:buFont typeface="Calibri"/>
              <a:buNone/>
            </a:pPr>
            <a:r>
              <a:rPr lang="en-US" sz="3200" b="1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22</a:t>
            </a:r>
            <a:r>
              <a:rPr lang="en-US" sz="3200" b="1" i="0" u="none" strike="noStrike" cap="none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M</a:t>
            </a:r>
            <a:r>
              <a:rPr lang="en-US" sz="3200" b="1" i="0" u="none" strike="noStrike" cap="none" dirty="0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+</a:t>
            </a:r>
            <a:endParaRPr sz="3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365760" y="1712248"/>
            <a:ext cx="1965960" cy="302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1000"/>
              <a:buFont typeface="Calibri"/>
              <a:buNone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Total Flow Records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2514600" y="1265046"/>
            <a:ext cx="1965960" cy="830786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+mj-lt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2514600" y="1267124"/>
            <a:ext cx="1965960" cy="52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8BC3"/>
              </a:buClr>
              <a:buSzPts val="3000"/>
              <a:buFont typeface="Calibri"/>
              <a:buNone/>
            </a:pPr>
            <a:r>
              <a:rPr lang="en-US" sz="3200" b="1" i="0" u="none" strike="noStrike" cap="none" dirty="0">
                <a:solidFill>
                  <a:srgbClr val="1E8BC3"/>
                </a:solidFill>
                <a:latin typeface="+mj-lt"/>
                <a:ea typeface="Calibri"/>
                <a:cs typeface="Calibri"/>
                <a:sym typeface="Calibri"/>
              </a:rPr>
              <a:t>44</a:t>
            </a:r>
            <a:endParaRPr sz="3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2514600" y="1690153"/>
            <a:ext cx="1965960" cy="302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1000"/>
              <a:buFont typeface="Calibri"/>
              <a:buNone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Network Features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663440" y="1265046"/>
            <a:ext cx="1965960" cy="830786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+mj-lt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663440" y="1267124"/>
            <a:ext cx="925830" cy="44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3000"/>
              <a:buFont typeface="Calibri"/>
              <a:buNone/>
            </a:pPr>
            <a:r>
              <a:rPr lang="en-US" sz="3200" b="1" i="0" u="none" strike="noStrike" cap="none" dirty="0">
                <a:solidFill>
                  <a:srgbClr val="9B59B6"/>
                </a:solidFill>
                <a:latin typeface="+mj-lt"/>
                <a:ea typeface="Calibri"/>
                <a:cs typeface="Calibri"/>
                <a:sym typeface="Calibri"/>
              </a:rPr>
              <a:t>9</a:t>
            </a:r>
            <a:endParaRPr sz="3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629275" y="1778021"/>
            <a:ext cx="1040130" cy="249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1000"/>
              <a:buFont typeface="Calibri"/>
              <a:buNone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CSV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812280" y="1265046"/>
            <a:ext cx="1965960" cy="852534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812280" y="1267124"/>
            <a:ext cx="1965960" cy="52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3000"/>
              <a:buFont typeface="Calibri"/>
              <a:buNone/>
            </a:pPr>
            <a:r>
              <a:rPr lang="en-US" sz="3200" b="1" i="0" u="none" strike="noStrike" cap="none" dirty="0">
                <a:solidFill>
                  <a:srgbClr val="E67E22"/>
                </a:solidFill>
                <a:latin typeface="+mj-lt"/>
                <a:ea typeface="Calibri"/>
                <a:cs typeface="Calibri"/>
                <a:sym typeface="Calibri"/>
              </a:rPr>
              <a:t>2019</a:t>
            </a:r>
            <a:endParaRPr sz="3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812280" y="1767788"/>
            <a:ext cx="1965960" cy="302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1000"/>
              <a:buFont typeface="Calibri"/>
              <a:buNone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Collection Period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102870" y="2203050"/>
            <a:ext cx="8846820" cy="2606694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1A30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65760" y="2187421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3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How the Network Data Was Collected</a:t>
            </a:r>
            <a:endParaRPr sz="16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77165" y="2723257"/>
            <a:ext cx="8531065" cy="3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1000"/>
              <a:buFont typeface="Arial" panose="020B0604020202020204" pitchFamily="34" charset="0"/>
              <a:buChar char="•"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The ZEEK (formerly BRO) network analysis framework processed raw PCAP packet captures into structured, labeled flow records (CSV).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77166" y="3396025"/>
            <a:ext cx="8531066" cy="41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1000"/>
              <a:buFont typeface="Arial" panose="020B0604020202020204" pitchFamily="34" charset="0"/>
              <a:buChar char="•"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Attacks were launched by Kali Linux machines (IPs 192.168.159.30–39); ground truth labels were assigned based on attacker IPs + timestamps.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77165" y="4073461"/>
            <a:ext cx="8531066" cy="48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1000"/>
              <a:buFont typeface="Arial" panose="020B0604020202020204" pitchFamily="34" charset="0"/>
              <a:buChar char="•"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Both a binary label (0 = normal, 1 = attack) and a multi-class 'type' label (e.g., 'ddos', 'backdoor') are included in each record.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800"/>
              <a:buFont typeface="Calibri"/>
              <a:buNone/>
            </a:pPr>
            <a:r>
              <a:rPr lang="en-US" sz="1000" b="0" i="1" u="none" strike="noStrike" cap="none">
                <a:solidFill>
                  <a:srgbClr val="8FA5BF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10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80;p9">
            <a:extLst>
              <a:ext uri="{FF2B5EF4-FFF2-40B4-BE49-F238E27FC236}">
                <a16:creationId xmlns:a16="http://schemas.microsoft.com/office/drawing/2014/main" id="{34AA3F85-461B-4A7B-AD04-DEC8D15F459D}"/>
              </a:ext>
            </a:extLst>
          </p:cNvPr>
          <p:cNvSpPr/>
          <p:nvPr/>
        </p:nvSpPr>
        <p:spPr>
          <a:xfrm>
            <a:off x="5686425" y="1257782"/>
            <a:ext cx="925830" cy="52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3000"/>
              <a:buFont typeface="Calibri"/>
              <a:buNone/>
            </a:pPr>
            <a:r>
              <a:rPr lang="en-US" sz="3200" b="1" i="0" u="none" strike="noStrike" cap="none" dirty="0">
                <a:solidFill>
                  <a:srgbClr val="9B59B6"/>
                </a:solidFill>
                <a:latin typeface="+mj-lt"/>
                <a:ea typeface="Calibri"/>
                <a:cs typeface="Calibri"/>
                <a:sym typeface="Calibri"/>
              </a:rPr>
              <a:t>21</a:t>
            </a:r>
            <a:endParaRPr sz="3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181;p9">
            <a:extLst>
              <a:ext uri="{FF2B5EF4-FFF2-40B4-BE49-F238E27FC236}">
                <a16:creationId xmlns:a16="http://schemas.microsoft.com/office/drawing/2014/main" id="{344B8730-4F1C-41F2-AB54-3CDE8F603CC3}"/>
              </a:ext>
            </a:extLst>
          </p:cNvPr>
          <p:cNvSpPr/>
          <p:nvPr/>
        </p:nvSpPr>
        <p:spPr>
          <a:xfrm>
            <a:off x="4606290" y="1735191"/>
            <a:ext cx="1040130" cy="249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1000"/>
              <a:buFont typeface="Calibri"/>
              <a:buNone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Attack Categories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365760" y="256032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365760" y="2560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FEATURES</a:t>
            </a:r>
            <a:endParaRPr sz="105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320040" y="41605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The 44 Network Features: Categories Overview</a:t>
            </a:r>
            <a:endParaRPr sz="2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365760" y="1003554"/>
            <a:ext cx="8412480" cy="36576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210312" y="1200150"/>
            <a:ext cx="416052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210312" y="1200150"/>
            <a:ext cx="73152" cy="59436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3959352" y="1309878"/>
            <a:ext cx="320040" cy="27432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3959352" y="130987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74904" y="124587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US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Connection Identity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374904" y="1511046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ts,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uid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src_ip, src_port, dst_ip, dst_port</a:t>
            </a:r>
            <a:endParaRPr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210312" y="1867662"/>
            <a:ext cx="416052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219456" y="1861948"/>
            <a:ext cx="73152" cy="594360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3959352" y="1977390"/>
            <a:ext cx="320040" cy="274320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3959352" y="197739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374904" y="191338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US" b="1" i="0" u="none" strike="noStrike" cap="none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Protocol &amp; Service</a:t>
            </a:r>
            <a:endParaRPr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374904" y="217855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b="0" i="1" u="none" strike="noStrike" cap="none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proto, service, conn_state</a:t>
            </a:r>
            <a:endParaRPr b="0" i="0" u="none" strike="noStrike" cap="none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210312" y="2571750"/>
            <a:ext cx="416052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210312" y="2571750"/>
            <a:ext cx="73152" cy="594360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936492" y="2706624"/>
            <a:ext cx="320040" cy="274320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959352" y="268147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74904" y="261747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US" b="1" i="0" u="none" strike="noStrike" cap="none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Flow Duration &amp; Timing</a:t>
            </a:r>
            <a:endParaRPr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74904" y="2882646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duration,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missed_bytes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history</a:t>
            </a:r>
            <a:endParaRPr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210312" y="3261208"/>
            <a:ext cx="4160520" cy="6181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210312" y="3271038"/>
            <a:ext cx="73152" cy="618134"/>
          </a:xfrm>
          <a:prstGeom prst="rect">
            <a:avLst/>
          </a:prstGeom>
          <a:solidFill>
            <a:srgbClr val="16A085"/>
          </a:solidFill>
          <a:ln w="12700" cap="flat" cmpd="sng">
            <a:solidFill>
              <a:srgbClr val="16A0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3959352" y="3405683"/>
            <a:ext cx="320040" cy="285293"/>
          </a:xfrm>
          <a:prstGeom prst="rect">
            <a:avLst/>
          </a:prstGeom>
          <a:solidFill>
            <a:srgbClr val="16A085"/>
          </a:solidFill>
          <a:ln w="12700" cap="flat" cmpd="sng">
            <a:solidFill>
              <a:srgbClr val="16A0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+mj-lt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3959352" y="3370935"/>
            <a:ext cx="320040" cy="28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74904" y="3306927"/>
            <a:ext cx="3474720" cy="26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US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Byte Counts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292608" y="3579418"/>
            <a:ext cx="3584448" cy="153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src_bytes, dst_bytes,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src_ip_bytes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dst_ip_bytes</a:t>
            </a:r>
            <a:endParaRPr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210312" y="4005072"/>
            <a:ext cx="4160520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210312" y="4005072"/>
            <a:ext cx="73152" cy="594360"/>
          </a:xfrm>
          <a:prstGeom prst="rect">
            <a:avLst/>
          </a:prstGeom>
          <a:solidFill>
            <a:srgbClr val="8E44AD"/>
          </a:solidFill>
          <a:ln w="12700" cap="flat" cmpd="sng">
            <a:solidFill>
              <a:srgbClr val="8E44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3959352" y="4114800"/>
            <a:ext cx="320040" cy="274320"/>
          </a:xfrm>
          <a:prstGeom prst="rect">
            <a:avLst/>
          </a:prstGeom>
          <a:solidFill>
            <a:srgbClr val="8E44AD"/>
          </a:solidFill>
          <a:ln w="12700" cap="flat" cmpd="sng">
            <a:solidFill>
              <a:srgbClr val="8E44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3959352" y="41148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374904" y="405079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US" b="1" i="0" u="none" strike="noStrike" cap="none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Packet Counts</a:t>
            </a:r>
            <a:endParaRPr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374904" y="431596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b="0" i="1" u="none" strike="noStrike" cap="none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src_pkts, dst_pkts, src_ip_pkts, dst_ip_pkts</a:t>
            </a:r>
            <a:endParaRPr b="0" i="0" u="none" strike="noStrike" cap="none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539426" y="1213866"/>
            <a:ext cx="4394261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521139" y="1234440"/>
            <a:ext cx="73152" cy="594360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8524213" y="1316736"/>
            <a:ext cx="320040" cy="274320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522210" y="132359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7</a:t>
            </a:r>
            <a:endParaRPr sz="16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677156" y="124587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US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DNS Features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622863" y="1524762"/>
            <a:ext cx="3894204" cy="267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dns_query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dns_qclass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dns_qtype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dns_rcode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dns_AA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dns_RD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dns_rejected</a:t>
            </a:r>
            <a:endParaRPr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612579" y="2007109"/>
            <a:ext cx="4321111" cy="7609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566859" y="2027395"/>
            <a:ext cx="45720" cy="740665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8522210" y="2240280"/>
            <a:ext cx="320040" cy="27432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8522210" y="22402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6</a:t>
            </a:r>
            <a:endParaRPr sz="16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588287" y="2033111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US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HTTP Features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622863" y="2347866"/>
            <a:ext cx="4022220" cy="388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http_method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http_uri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http_version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http_status_code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http_request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/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response_body_len</a:t>
            </a:r>
            <a:endParaRPr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4562857" y="2976371"/>
            <a:ext cx="4370829" cy="74066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+mj-lt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535424" y="2970657"/>
            <a:ext cx="45719" cy="740664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8508797" y="3117818"/>
            <a:ext cx="336218" cy="274320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8508797" y="3117818"/>
            <a:ext cx="33621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558283" y="2978658"/>
            <a:ext cx="3650363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US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SSL / Weird Features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588287" y="3230975"/>
            <a:ext cx="4005071" cy="340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ssl_version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ssl_cipher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ssl_resumed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ssl_established</a:t>
            </a: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, </a:t>
            </a:r>
            <a:r>
              <a:rPr lang="en-US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weird_name</a:t>
            </a:r>
            <a:endParaRPr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562858" y="3902202"/>
            <a:ext cx="4370828" cy="594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551711" y="3889172"/>
            <a:ext cx="73152" cy="59436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8524212" y="4005072"/>
            <a:ext cx="318037" cy="27432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+mj-lt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8567928" y="40050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727450" y="394792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US" b="1" i="0" u="none" strike="noStrike" cap="none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Labels</a:t>
            </a:r>
            <a:endParaRPr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727450" y="421309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label (binary), type (multi-class attack name)</a:t>
            </a:r>
            <a:endParaRPr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1000" b="0" i="1" u="none" strike="noStrike" cap="none">
                <a:solidFill>
                  <a:srgbClr val="94A3B8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10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/>
          <p:nvPr/>
        </p:nvSpPr>
        <p:spPr>
          <a:xfrm>
            <a:off x="0" y="0"/>
            <a:ext cx="2011680" cy="15610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+mj-lt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-85429" y="-49965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FEATURE DEEP DIVE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2097109" y="0"/>
            <a:ext cx="704689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Time-Based &amp; Flow-Based Features: The Core Analytics</a:t>
            </a: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p11"/>
          <p:cNvGraphicFramePr/>
          <p:nvPr>
            <p:extLst>
              <p:ext uri="{D42A27DB-BD31-4B8C-83A1-F6EECF244321}">
                <p14:modId xmlns:p14="http://schemas.microsoft.com/office/powerpoint/2010/main" val="1734285082"/>
              </p:ext>
            </p:extLst>
          </p:nvPr>
        </p:nvGraphicFramePr>
        <p:xfrm>
          <a:off x="28576" y="256032"/>
          <a:ext cx="9072563" cy="4754990"/>
        </p:xfrm>
        <a:graphic>
          <a:graphicData uri="http://schemas.openxmlformats.org/drawingml/2006/table">
            <a:tbl>
              <a:tblPr>
                <a:noFill/>
                <a:tableStyleId>{CF0FB0CC-F4F5-4754-B4CA-63E2D35701D5}</a:tableStyleId>
              </a:tblPr>
              <a:tblGrid>
                <a:gridCol w="100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2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3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162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0A162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C9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162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0A162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C9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162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0A162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C9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162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0A162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Why It Matters for Classification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C9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ts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Timestamp (Unix)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Start time of the network connection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Temporal attack patterns; DoS = tight burst windows; DDoS = distributed over time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duration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Float (seconds)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Total duration of the flow/connection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Short spikes → DoS/DDoS; Long connections → Backdoor, C&amp;C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src_bytes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Integer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Bytes sent from source to destination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High src_bytes with small dst_bytes → data exfiltration or flooding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dst_bytes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Integer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Bytes sent from destination to source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Zero dst_bytes + high src_bytes → one-way flooding (DoS/DDoS)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src_pkts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Integer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Packets sent from source to destination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Packet rate: DoS floods packet counts; Scanning sends few packets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dst_pkts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Integer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Packets sent from destination to source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Zero dst_pkts → destination is not responding (blocked/overwhelmed)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src_ip_bytes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Integer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IP-level bytes from source (incl. headers)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Volume metric; higher than src_bytes by IP overhead signals network load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dst_ip_bytes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Integer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IP-level bytes from destination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Used with </a:t>
                      </a:r>
                      <a:r>
                        <a:rPr lang="en-US" sz="1200" u="none" strike="noStrike" cap="none" dirty="0" err="1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src_ip_bytes</a:t>
                      </a: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to compute byte ratio / traffic asymmetry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missed_bytes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Integer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Bytes from missed packets in reassembly</a:t>
                      </a:r>
                      <a:endParaRPr sz="12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High </a:t>
                      </a:r>
                      <a:r>
                        <a:rPr lang="en-US" sz="1200" u="none" strike="noStrike" cap="none" dirty="0" err="1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missed_bytes</a:t>
                      </a: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→ network congestion or packet-injection attacks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history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String flags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Connection history flags (S=SYN, F=FIN, etc.)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3F8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EEF3F8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S0 (SYN only, no response) → SYN flood; OTH → various anomalies</a:t>
                      </a:r>
                      <a:endParaRPr sz="12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305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/>
          <p:nvPr/>
        </p:nvSpPr>
        <p:spPr>
          <a:xfrm>
            <a:off x="50407" y="110305"/>
            <a:ext cx="2011680" cy="233730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50407" y="9915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FEATURE DEEP DIVE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2062087" y="110305"/>
            <a:ext cx="609567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Protocol, Service &amp; Connection State Features</a:t>
            </a: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2" name="Google Shape;282;p12"/>
          <p:cNvGraphicFramePr/>
          <p:nvPr>
            <p:extLst>
              <p:ext uri="{D42A27DB-BD31-4B8C-83A1-F6EECF244321}">
                <p14:modId xmlns:p14="http://schemas.microsoft.com/office/powerpoint/2010/main" val="549731084"/>
              </p:ext>
            </p:extLst>
          </p:nvPr>
        </p:nvGraphicFramePr>
        <p:xfrm>
          <a:off x="120015" y="727729"/>
          <a:ext cx="8903969" cy="4145360"/>
        </p:xfrm>
        <a:graphic>
          <a:graphicData uri="http://schemas.openxmlformats.org/drawingml/2006/table">
            <a:tbl>
              <a:tblPr>
                <a:noFill/>
                <a:tableStyleId>{CF0FB0CC-F4F5-4754-B4CA-63E2D35701D5}</a:tableStyleId>
              </a:tblPr>
              <a:tblGrid>
                <a:gridCol w="1090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15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FFFFFF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FFFFFF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Values / Example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FFFFFF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Description &amp; Classification Relevance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proto</a:t>
                      </a:r>
                      <a:endParaRPr sz="14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tcp / udp / icmp</a:t>
                      </a:r>
                      <a:endParaRPr sz="14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Transport protocol. DoS/DDoS often exploits UDP &amp; ICMP for amplification; TCP for SYN floods.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service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http / </a:t>
                      </a:r>
                      <a:r>
                        <a:rPr lang="en-US" sz="1400" u="none" strike="noStrike" cap="none" dirty="0" err="1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dns</a:t>
                      </a: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/ ftp / smtp / </a:t>
                      </a:r>
                      <a:r>
                        <a:rPr lang="en-US" sz="1400" u="none" strike="noStrike" cap="none" dirty="0" err="1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ssh</a:t>
                      </a: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/ </a:t>
                      </a:r>
                      <a:r>
                        <a:rPr lang="en-US" sz="1400" u="none" strike="noStrike" cap="none" dirty="0" err="1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ssl</a:t>
                      </a: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/ </a:t>
                      </a:r>
                      <a:r>
                        <a:rPr lang="en-US" sz="1400" u="none" strike="noStrike" cap="none" dirty="0" err="1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dhcp</a:t>
                      </a: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 / —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Application-layer service detected. Injection → HTTP/DNS; Scanning → multiple services; Backdoor → </a:t>
                      </a:r>
                      <a:r>
                        <a:rPr lang="en-US" sz="1400" u="none" strike="noStrike" cap="none" dirty="0" err="1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ssh</a:t>
                      </a: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/ftp.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5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conn_state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S0 / S1 / SF / REJ / RSTO / SH / OTH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Connection state: S0 = SYN only (flood); SF = normal close; REJ = rejected; RSTO = RST by originator.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src/dst </a:t>
                      </a:r>
                      <a:r>
                        <a:rPr lang="en-US" sz="1400" u="none" strike="noStrike" cap="none" dirty="0" err="1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ip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IPv4 addresses</a:t>
                      </a:r>
                      <a:endParaRPr sz="14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Source/destination IPs. Note: high cardinality of src_ip → DDoS (many bots); single src_ip → DoS.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src_port / dst_port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0–65535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Port numbers. Known ports (80, 443, 22) = legitimate targets; high ephemeral ports = scanning/fuzzing.</a:t>
                      </a:r>
                      <a:endParaRPr sz="14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5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dns_query</a:t>
                      </a:r>
                      <a:endParaRPr sz="14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Domain string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DNS lookup domain. Malformed or repeated queries → DNS tunneling or exfiltration.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5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dns_rejected</a:t>
                      </a:r>
                      <a:endParaRPr sz="14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endParaRPr sz="1400" u="none" strike="noStrike" cap="none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j-lt"/>
                          <a:ea typeface="Calibri"/>
                          <a:cs typeface="Calibri"/>
                          <a:sym typeface="Calibri"/>
                        </a:rPr>
                        <a:t>Whether DNS query was rejected. Mass rejections → DNS amplification attack pattern.</a:t>
                      </a:r>
                      <a:endParaRPr sz="1400" u="none" strike="noStrike" cap="none" dirty="0">
                        <a:latin typeface="+mj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/>
          <p:nvPr/>
        </p:nvSpPr>
        <p:spPr>
          <a:xfrm>
            <a:off x="0" y="128588"/>
            <a:ext cx="2011680" cy="233730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0" y="12858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FEATURE DEEP DIVE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2105350" y="12489"/>
            <a:ext cx="703865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Protocol, Service &amp; Connection State Features</a:t>
            </a: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2" name="Google Shape;282;p12"/>
          <p:cNvGraphicFramePr/>
          <p:nvPr>
            <p:extLst>
              <p:ext uri="{D42A27DB-BD31-4B8C-83A1-F6EECF244321}">
                <p14:modId xmlns:p14="http://schemas.microsoft.com/office/powerpoint/2010/main" val="1826175473"/>
              </p:ext>
            </p:extLst>
          </p:nvPr>
        </p:nvGraphicFramePr>
        <p:xfrm>
          <a:off x="125730" y="406646"/>
          <a:ext cx="8892540" cy="4693990"/>
        </p:xfrm>
        <a:graphic>
          <a:graphicData uri="http://schemas.openxmlformats.org/drawingml/2006/table">
            <a:tbl>
              <a:tblPr>
                <a:noFill/>
                <a:tableStyleId>{CF0FB0CC-F4F5-4754-B4CA-63E2D35701D5}</a:tableStyleId>
              </a:tblPr>
              <a:tblGrid>
                <a:gridCol w="1267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8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60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Values / Example</a:t>
                      </a: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Description &amp; Classification Relevance</a:t>
                      </a: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8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http_method</a:t>
                      </a:r>
                      <a:endParaRPr sz="14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GET / POST / PUT</a:t>
                      </a: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HTTP method. POST flood → HTTP DDoS; unusual PUT/DELETE → injection attempts.</a:t>
                      </a: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08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http_status_code</a:t>
                      </a:r>
                      <a:endParaRPr sz="14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200, 403, 500...</a:t>
                      </a: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Server response code. Mass 500 errors → server overload from DoS; 200 flood → successful attack requests.</a:t>
                      </a: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08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ssl_established</a:t>
                      </a: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Whether TLS session completed. Failed SSL handshakes → SSL exhaustion attacks.</a:t>
                      </a:r>
                      <a:endParaRPr sz="14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008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weird_name</a:t>
                      </a: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endParaRPr sz="14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ZEEK-flagged anomaly name (e.g., 'bad_checksum'). Presence indicates protocol-level anomaly or manipulation.</a:t>
                      </a:r>
                      <a:endParaRPr sz="14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008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label</a:t>
                      </a: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0 (normal) / 1 (attack)</a:t>
                      </a: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Binary classification target the primary output variable for intrusion detection.</a:t>
                      </a: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319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rgbClr val="1F2937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Normal / ddos / dos / backdoor / injection / </a:t>
                      </a:r>
                      <a:r>
                        <a:rPr lang="en-US" sz="1400" u="none" strike="noStrike" cap="none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mitm</a:t>
                      </a:r>
                      <a:r>
                        <a:rPr lang="en-US" sz="14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/password/ransomware/scanning/</a:t>
                      </a:r>
                      <a:r>
                        <a:rPr lang="en-US" sz="1400" u="none" strike="noStrike" cap="none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xss</a:t>
                      </a:r>
                      <a:endParaRPr lang="en-US"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Multi-class target:  10 distinct classes (incl. normal). The primary output for multi-class classification.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950"/>
                        <a:buFont typeface="Calibri"/>
                        <a:buNone/>
                      </a:pPr>
                      <a:endParaRPr sz="14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6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163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771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"/>
          <p:cNvSpPr/>
          <p:nvPr/>
        </p:nvSpPr>
        <p:spPr>
          <a:xfrm>
            <a:off x="194310" y="164592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194310" y="16459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ATTACK TYPES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365760" y="310896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The 9 Attack Types in TON_IoT Network Dataset</a:t>
            </a:r>
            <a:endParaRPr sz="2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415766" y="896112"/>
            <a:ext cx="8412480" cy="36576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65760" y="1097280"/>
            <a:ext cx="2651760" cy="1078992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475488" y="1188720"/>
            <a:ext cx="2432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74C3C"/>
                </a:solidFill>
                <a:latin typeface="+mj-lt"/>
                <a:ea typeface="Calibri"/>
                <a:cs typeface="Calibri"/>
                <a:sym typeface="Calibri"/>
              </a:rPr>
              <a:t>💥 DoS</a:t>
            </a:r>
            <a:endParaRPr sz="1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15766" y="1536192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Single-source flooding to exhaust victim resources</a:t>
            </a:r>
            <a:endParaRPr sz="13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3200400" y="1097280"/>
            <a:ext cx="2651760" cy="1078992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3310128" y="1188720"/>
            <a:ext cx="2432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67E22"/>
                </a:solidFill>
                <a:latin typeface="+mj-lt"/>
                <a:ea typeface="Calibri"/>
                <a:cs typeface="Calibri"/>
                <a:sym typeface="Calibri"/>
              </a:rPr>
              <a:t>🌐 DDoS</a:t>
            </a:r>
            <a:endParaRPr sz="1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3355848" y="1536192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Multi-source coordinated flooding via botnets</a:t>
            </a:r>
            <a:endParaRPr sz="13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6035040" y="1097280"/>
            <a:ext cx="2651760" cy="1078992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6144768" y="1188720"/>
            <a:ext cx="2432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9B59B6"/>
                </a:solidFill>
                <a:latin typeface="+mj-lt"/>
                <a:ea typeface="Calibri"/>
                <a:cs typeface="Calibri"/>
                <a:sym typeface="Calibri"/>
              </a:rPr>
              <a:t>🚪 Backdoor</a:t>
            </a:r>
            <a:endParaRPr sz="1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6144768" y="1559052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Hidden persistent access via Metasploit exploits</a:t>
            </a:r>
            <a:endParaRPr sz="13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365760" y="2267712"/>
            <a:ext cx="2651760" cy="1078992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E91E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475488" y="2359152"/>
            <a:ext cx="2432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91E63"/>
                </a:solidFill>
                <a:latin typeface="+mj-lt"/>
                <a:ea typeface="Calibri"/>
                <a:cs typeface="Calibri"/>
                <a:sym typeface="Calibri"/>
              </a:rPr>
              <a:t>💉 Injection</a:t>
            </a:r>
            <a:endParaRPr sz="1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475488" y="2721197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SQL/command injection via web application flaws</a:t>
            </a:r>
            <a:endParaRPr sz="13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3200400" y="2267712"/>
            <a:ext cx="2651760" cy="1078992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3310128" y="2359152"/>
            <a:ext cx="2432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BC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8BC3"/>
                </a:solidFill>
                <a:latin typeface="+mj-lt"/>
                <a:ea typeface="Calibri"/>
                <a:cs typeface="Calibri"/>
                <a:sym typeface="Calibri"/>
              </a:rPr>
              <a:t>🔍 Scanning</a:t>
            </a:r>
            <a:endParaRPr sz="1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3310128" y="2721197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Network reconnaissance using Nmap / Nessus</a:t>
            </a:r>
            <a:endParaRPr sz="13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6035040" y="2267712"/>
            <a:ext cx="2651760" cy="1078992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16A0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+mj-lt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6144768" y="2359152"/>
            <a:ext cx="2432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085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6A085"/>
                </a:solidFill>
                <a:latin typeface="+mj-lt"/>
                <a:ea typeface="Calibri"/>
                <a:cs typeface="Calibri"/>
                <a:sym typeface="Calibri"/>
              </a:rPr>
              <a:t>👥 MITM</a:t>
            </a:r>
            <a:endParaRPr sz="1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6144768" y="2729484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Man-in-the-Middle interception of network traffic</a:t>
            </a:r>
            <a:endParaRPr sz="13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365760" y="3438144"/>
            <a:ext cx="2651760" cy="1078992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475488" y="3529584"/>
            <a:ext cx="2432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74C3C"/>
                </a:solidFill>
                <a:latin typeface="+mj-lt"/>
                <a:ea typeface="Calibri"/>
                <a:cs typeface="Calibri"/>
                <a:sym typeface="Calibri"/>
              </a:rPr>
              <a:t>🔒 Ransomware</a:t>
            </a:r>
            <a:endParaRPr sz="1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75488" y="3849338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Encrypts victim files via SMB vulnerability exploit</a:t>
            </a:r>
            <a:endParaRPr sz="13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3200400" y="3438144"/>
            <a:ext cx="2651760" cy="1078992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3310128" y="3529584"/>
            <a:ext cx="2432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39C12"/>
                </a:solidFill>
                <a:latin typeface="+mj-lt"/>
                <a:ea typeface="Calibri"/>
                <a:cs typeface="Calibri"/>
                <a:sym typeface="Calibri"/>
              </a:rPr>
              <a:t>📝 XSS</a:t>
            </a:r>
            <a:endParaRPr sz="1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3310128" y="3853624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Cross-site scripting via web service injection</a:t>
            </a:r>
            <a:endParaRPr sz="13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6035040" y="3438144"/>
            <a:ext cx="2651760" cy="1078992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+mj-lt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6144768" y="3529584"/>
            <a:ext cx="2432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BC9C"/>
                </a:solidFill>
                <a:latin typeface="+mj-lt"/>
                <a:ea typeface="Calibri"/>
                <a:cs typeface="Calibri"/>
                <a:sym typeface="Calibri"/>
              </a:rPr>
              <a:t>🔑 Password</a:t>
            </a:r>
            <a:endParaRPr sz="1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6144768" y="3913632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Brute-force / credential stuffing attacks</a:t>
            </a:r>
            <a:endParaRPr sz="13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8FA5BF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"/>
          <p:cNvSpPr/>
          <p:nvPr/>
        </p:nvSpPr>
        <p:spPr>
          <a:xfrm>
            <a:off x="365760" y="256032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365760" y="2560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ATTACK ANALYSIS</a:t>
            </a:r>
            <a:endParaRPr sz="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DoS &amp; DDoS Attacks: The Volume-Based Threats</a:t>
            </a:r>
            <a:endParaRPr sz="2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365760" y="1243584"/>
            <a:ext cx="8412480" cy="36576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365760" y="1417320"/>
            <a:ext cx="4114800" cy="32918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365760" y="1417320"/>
            <a:ext cx="4114800" cy="457200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502920" y="14173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DoS: Denial of Service</a:t>
            </a:r>
            <a:endParaRPr sz="20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502920" y="1920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200" b="0" i="1" u="none" strike="noStrike" cap="none">
                <a:solidFill>
                  <a:srgbClr val="6B7280"/>
                </a:solidFill>
                <a:latin typeface="+mj-lt"/>
                <a:ea typeface="Calibri"/>
                <a:cs typeface="Calibri"/>
                <a:sym typeface="Calibri"/>
              </a:rPr>
              <a:t>Tool: UFONet toolkit + Python scripts</a:t>
            </a:r>
            <a:endParaRPr sz="12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502920" y="221284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lang="en-US" b="1" i="0" u="none" strike="noStrike" cap="none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How it works:</a:t>
            </a:r>
            <a:endParaRPr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502920" y="242316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+mj-lt"/>
                <a:ea typeface="Calibri"/>
                <a:cs typeface="Calibri"/>
                <a:sym typeface="Calibri"/>
              </a:rPr>
              <a:t>Single attacker overwhelms target with high-volume traffic (SYN floods, HTTP floods, ICMP ping floods), depleting CPU/RAM/bandwidth.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02920" y="3044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lang="en-US" b="1" i="0" u="none" strike="noStrike" cap="none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Traffic signatures:</a:t>
            </a:r>
            <a:endParaRPr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502920" y="3264408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+mj-lt"/>
                <a:ea typeface="Calibri"/>
                <a:cs typeface="Calibri"/>
                <a:sym typeface="Calibri"/>
              </a:rPr>
              <a:t>S0 conn_state (SYN with no reply)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+mj-lt"/>
                <a:ea typeface="Calibri"/>
                <a:cs typeface="Calibri"/>
                <a:sym typeface="Calibri"/>
              </a:rPr>
              <a:t>Very high src_pkts, near-zero dst_pkts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+mj-lt"/>
                <a:ea typeface="Calibri"/>
                <a:cs typeface="Calibri"/>
                <a:sym typeface="Calibri"/>
              </a:rPr>
              <a:t>Short duration, massive byte counts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+mj-lt"/>
                <a:ea typeface="Calibri"/>
                <a:cs typeface="Calibri"/>
                <a:sym typeface="Calibri"/>
              </a:rPr>
              <a:t>Single src_ip, single dst_ip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+mj-lt"/>
                <a:ea typeface="Calibri"/>
                <a:cs typeface="Calibri"/>
                <a:sym typeface="Calibri"/>
              </a:rPr>
              <a:t>proto: </a:t>
            </a:r>
            <a:r>
              <a:rPr lang="en-US" sz="1200" b="0" i="0" u="none" strike="noStrike" cap="none" dirty="0" err="1">
                <a:solidFill>
                  <a:srgbClr val="374151"/>
                </a:solidFill>
                <a:latin typeface="+mj-lt"/>
                <a:ea typeface="Calibri"/>
                <a:cs typeface="Calibri"/>
                <a:sym typeface="Calibri"/>
              </a:rPr>
              <a:t>tcp</a:t>
            </a:r>
            <a:r>
              <a:rPr lang="en-US" sz="1200" b="0" i="0" u="none" strike="noStrike" cap="none" dirty="0">
                <a:solidFill>
                  <a:srgbClr val="374151"/>
                </a:solidFill>
                <a:latin typeface="+mj-lt"/>
                <a:ea typeface="Calibri"/>
                <a:cs typeface="Calibri"/>
                <a:sym typeface="Calibri"/>
              </a:rPr>
              <a:t>/udp/icmp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502920" y="4370832"/>
            <a:ext cx="3840480" cy="228600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502920" y="437083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Dataset share: ~21% of attack records</a:t>
            </a:r>
            <a:endParaRPr sz="95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4709160" y="1417320"/>
            <a:ext cx="4114800" cy="32918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4709160" y="1417320"/>
            <a:ext cx="4114800" cy="45720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4846320" y="14173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DDoS: Distributed DoS</a:t>
            </a:r>
            <a:endParaRPr sz="20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4846320" y="1920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200" b="0" i="1" u="none" strike="noStrike" cap="none">
                <a:solidFill>
                  <a:srgbClr val="6B7280"/>
                </a:solidFill>
                <a:latin typeface="+mj-lt"/>
                <a:ea typeface="Calibri"/>
                <a:cs typeface="Calibri"/>
                <a:sym typeface="Calibri"/>
              </a:rPr>
              <a:t>Tool: Coordinated scripts across multiple Kali VMs</a:t>
            </a:r>
            <a:endParaRPr sz="12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4846320" y="221284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lang="en-US" b="1" i="0" u="none" strike="noStrike" cap="none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How it works:</a:t>
            </a:r>
            <a:endParaRPr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4846320" y="242316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+mj-lt"/>
                <a:ea typeface="Calibri"/>
                <a:cs typeface="Calibri"/>
                <a:sym typeface="Calibri"/>
              </a:rPr>
              <a:t>Hundreds of bot machines (often compromised IoT) simultaneously flood the target, making IP blocking ineffective the defining feature vs. DoS.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4846320" y="3044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000"/>
              <a:buFont typeface="Calibri"/>
              <a:buNone/>
            </a:pPr>
            <a:r>
              <a:rPr lang="en-US" b="1" i="0" u="none" strike="noStrike" cap="none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Traffic signatures:</a:t>
            </a:r>
            <a:endParaRPr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4846320" y="3264408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+mj-lt"/>
                <a:ea typeface="Calibri"/>
                <a:cs typeface="Calibri"/>
                <a:sym typeface="Calibri"/>
              </a:rPr>
              <a:t>High cardinality of unique src_ip addresses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+mj-lt"/>
                <a:ea typeface="Calibri"/>
                <a:cs typeface="Calibri"/>
                <a:sym typeface="Calibri"/>
              </a:rPr>
              <a:t>Same dst_ip from many sources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+mj-lt"/>
                <a:ea typeface="Calibri"/>
                <a:cs typeface="Calibri"/>
                <a:sym typeface="Calibri"/>
              </a:rPr>
              <a:t>Gini coefficient → near 1 (non-uniform distribution)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rgbClr val="374151"/>
                </a:solidFill>
                <a:latin typeface="+mj-lt"/>
                <a:ea typeface="Calibri"/>
                <a:cs typeface="Calibri"/>
                <a:sym typeface="Calibri"/>
              </a:rPr>
              <a:t>Synchronized burst patterns across temporal windows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4846320" y="4370832"/>
            <a:ext cx="3840480" cy="22860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4846320" y="437083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Dataset share: ~71% of all labeled records (dominant class)</a:t>
            </a:r>
            <a:endParaRPr sz="95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94A3B8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/>
          <p:nvPr/>
        </p:nvSpPr>
        <p:spPr>
          <a:xfrm>
            <a:off x="365760" y="256032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365760" y="2560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ATTACK ANALYSIS</a:t>
            </a:r>
            <a:endParaRPr lang="en-US" sz="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365760" y="420337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Backdoor, Injection &amp; Scanning Attacks</a:t>
            </a:r>
            <a:endParaRPr sz="2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310894" y="987546"/>
            <a:ext cx="8412480" cy="36576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121444" y="1277296"/>
            <a:ext cx="2896076" cy="3569023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112869" y="1089698"/>
            <a:ext cx="2896077" cy="457200"/>
          </a:xfrm>
          <a:prstGeom prst="rect">
            <a:avLst/>
          </a:prstGeom>
          <a:solidFill>
            <a:srgbClr val="9B59B6"/>
          </a:solidFill>
          <a:ln w="127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457200" y="1097991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🚪 Backdoor</a:t>
            </a:r>
            <a:endParaRPr sz="14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92867" y="1555191"/>
            <a:ext cx="3005804" cy="35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850"/>
              <a:buFont typeface="Calibri"/>
              <a:buNone/>
            </a:pPr>
            <a:r>
              <a:rPr lang="en-US" sz="1000" b="0" i="1" u="none" strike="noStrike" cap="none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Tool: Metasploit Framework (bash persistence scripts)</a:t>
            </a:r>
            <a:endParaRPr sz="1000" b="0" i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103151" y="1930740"/>
            <a:ext cx="2786349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Attacker gains persistent hidden access to a compromised host, maintaining a Command &amp; Control (C&amp;C) remains stealthy under normal traffic.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257176" y="2830200"/>
            <a:ext cx="2432304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0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9B59B6"/>
                </a:solidFill>
                <a:latin typeface="+mj-lt"/>
                <a:ea typeface="Calibri"/>
                <a:cs typeface="Calibri"/>
                <a:sym typeface="Calibri"/>
              </a:rPr>
              <a:t>Network Signatures: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72006" y="3124031"/>
            <a:ext cx="3005803" cy="157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Long-duration, low-bandwidth connections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Persistent same src_ip–dst_ip pairs across time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Unusual ports (e.g., 4444 Metasploit default)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history: SF (full connection maintained)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Encrypted tunnels → </a:t>
            </a:r>
            <a:r>
              <a:rPr lang="en-US" sz="1200" b="0" i="0" u="none" strike="noStrike" cap="none" dirty="0" err="1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ssl_established</a:t>
            </a: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 = T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3108959" y="1277297"/>
            <a:ext cx="2816352" cy="3569022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E91E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3108958" y="1069415"/>
            <a:ext cx="2816352" cy="457200"/>
          </a:xfrm>
          <a:prstGeom prst="rect">
            <a:avLst/>
          </a:prstGeom>
          <a:solidFill>
            <a:srgbClr val="E91E63"/>
          </a:solidFill>
          <a:ln w="12700" cap="flat" cmpd="sng">
            <a:solidFill>
              <a:srgbClr val="E91E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3291840" y="1097991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💉 Injection</a:t>
            </a:r>
            <a:endParaRPr sz="1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3136392" y="1567473"/>
            <a:ext cx="2724912" cy="35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850"/>
              <a:buFont typeface="Calibri"/>
              <a:buNone/>
            </a:pPr>
            <a:r>
              <a:rPr lang="en-US" sz="1000" b="0" i="1" u="none" strike="noStrike" cap="none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Tool: Python scripts against DVWA / OWASP Shepherd</a:t>
            </a:r>
            <a:endParaRPr sz="1000" b="0" i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3118104" y="1907235"/>
            <a:ext cx="27432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SQL injection, command injection, or XML injection through vulnerable web forms and APIs. 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3282696" y="2813928"/>
            <a:ext cx="2432304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0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E91E63"/>
                </a:solidFill>
                <a:latin typeface="+mj-lt"/>
                <a:ea typeface="Calibri"/>
                <a:cs typeface="Calibri"/>
                <a:sym typeface="Calibri"/>
              </a:rPr>
              <a:t>Network Signatures: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3098671" y="3234629"/>
            <a:ext cx="2871212" cy="127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HTTP POST with large </a:t>
            </a:r>
            <a:r>
              <a:rPr lang="en-US" sz="1200" b="0" i="0" u="none" strike="noStrike" cap="none" dirty="0" err="1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http_request_body_len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dns_query</a:t>
            </a: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 with encoded payloads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http_status_code</a:t>
            </a: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 500 (server errors)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service = http, proto = </a:t>
            </a:r>
            <a:r>
              <a:rPr lang="en-US" sz="1200" b="0" i="0" u="none" strike="noStrike" cap="none" dirty="0" err="1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tcp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Repeated flows to dst_port 80/443/3306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6035039" y="1277297"/>
            <a:ext cx="2851785" cy="3569022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6035040" y="1069415"/>
            <a:ext cx="2851784" cy="457200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6126480" y="1097991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🔍 Scanning</a:t>
            </a:r>
            <a:endParaRPr sz="1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6044182" y="1511466"/>
            <a:ext cx="2760345" cy="35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850"/>
              <a:buFont typeface="Calibri"/>
              <a:buNone/>
            </a:pPr>
            <a:r>
              <a:rPr lang="en-US" sz="1000" b="0" i="1" u="none" strike="noStrike" cap="none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Tool: Nmap + Nessus vulnerability scanner (Kali)</a:t>
            </a:r>
            <a:endParaRPr sz="1000" b="0" i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6035038" y="1874441"/>
            <a:ext cx="2833493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Reconnaissance to discover live hosts, open ports, running services, and vulnerabilities. Produces highly characteristic traffic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6180486" y="2809426"/>
            <a:ext cx="1860233" cy="25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BC3"/>
              </a:buClr>
              <a:buSzPts val="10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8BC3"/>
                </a:solidFill>
                <a:latin typeface="+mj-lt"/>
                <a:ea typeface="Calibri"/>
                <a:cs typeface="Calibri"/>
                <a:sym typeface="Calibri"/>
              </a:rPr>
              <a:t>Network Signatures: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5990745" y="3097181"/>
            <a:ext cx="2914367" cy="1484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Large volume of short-duration flows (conn_state: S0/REJ)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Many unique </a:t>
            </a:r>
            <a:r>
              <a:rPr lang="en-US" sz="1200" b="0" i="0" u="none" strike="noStrike" cap="none" dirty="0" err="1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dst_ports</a:t>
            </a: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 from single src_ip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Very low src_bytes, very low dst_bytes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ICMP echo requests (proto = icmp)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Systematic sequential port/IP sweeping pattern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365760" y="4898048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800"/>
              <a:buFont typeface="Calibri"/>
              <a:buNone/>
            </a:pPr>
            <a:r>
              <a:rPr lang="en-US" sz="800" b="0" i="1" u="none" strike="noStrike" cap="none" dirty="0">
                <a:solidFill>
                  <a:srgbClr val="8FA5BF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"/>
          <p:cNvSpPr/>
          <p:nvPr/>
        </p:nvSpPr>
        <p:spPr>
          <a:xfrm>
            <a:off x="365760" y="256032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365760" y="2560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ATTACK ANALYSIS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365760" y="389763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MITM, Ransomware, XSS &amp; Password Attacks</a:t>
            </a:r>
            <a:endParaRPr sz="2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365760" y="941832"/>
            <a:ext cx="8412480" cy="36576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91440" y="1139570"/>
            <a:ext cx="4316254" cy="1706499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6A08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+mj-lt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91440" y="1139571"/>
            <a:ext cx="91440" cy="1706498"/>
          </a:xfrm>
          <a:prstGeom prst="rect">
            <a:avLst/>
          </a:prstGeom>
          <a:solidFill>
            <a:srgbClr val="16A085"/>
          </a:solidFill>
          <a:ln w="12700" cap="flat" cmpd="sng">
            <a:solidFill>
              <a:srgbClr val="16A0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274320" y="11424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085"/>
              </a:buClr>
              <a:buSzPts val="14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6A085"/>
                </a:solidFill>
                <a:latin typeface="+mj-lt"/>
                <a:ea typeface="Calibri"/>
                <a:cs typeface="Calibri"/>
                <a:sym typeface="Calibri"/>
              </a:rPr>
              <a:t>👥 MITM</a:t>
            </a: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137160" y="1516188"/>
            <a:ext cx="431625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Attacker intercepts communications between two parties e.g., ARP spoofing on LAN causes IoT sensor data to be rerouted through attacker.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202883" y="2248281"/>
            <a:ext cx="4173379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200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Key signals: Bi-directional flows; multiple connections per IP pair;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200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ARP-related protocol anomalies; </a:t>
            </a:r>
            <a:r>
              <a:rPr lang="en-US" sz="1200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ssl_established</a:t>
            </a:r>
            <a:r>
              <a:rPr lang="en-US" sz="1200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 changes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4617720" y="1121282"/>
            <a:ext cx="4160520" cy="1706497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4617720" y="1121282"/>
            <a:ext cx="91440" cy="1706497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4800600" y="1151001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E74C3C"/>
                </a:solidFill>
                <a:latin typeface="+mj-lt"/>
                <a:ea typeface="Calibri"/>
                <a:cs typeface="Calibri"/>
                <a:sym typeface="Calibri"/>
              </a:rPr>
              <a:t>🔒 Ransomware</a:t>
            </a: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4709160" y="1529619"/>
            <a:ext cx="416051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Metasploit exploits Windows SMB vulnerability (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EternalBlue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). Encrypts victim files and demands payment. Very destructive targets Windows VMs monitoring IoT.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4777740" y="2264283"/>
            <a:ext cx="401050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200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Key signals: SMB traffic surge (port 445); Large file transfers; Unusual write operations; Windows-specific process events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91440" y="2943224"/>
            <a:ext cx="4316254" cy="1903095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+mj-lt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91440" y="2943225"/>
            <a:ext cx="91440" cy="1903092"/>
          </a:xfrm>
          <a:prstGeom prst="rect">
            <a:avLst/>
          </a:pr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274320" y="2970657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4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F39C12"/>
                </a:solidFill>
                <a:latin typeface="+mj-lt"/>
                <a:ea typeface="Calibri"/>
                <a:cs typeface="Calibri"/>
                <a:sym typeface="Calibri"/>
              </a:rPr>
              <a:t>📝 XSS</a:t>
            </a: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137160" y="3297555"/>
            <a:ext cx="427053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Cross-Site Scripting injected into vulnerable web apps. Malicious JavaScript executes in other users' browsers steals credentials or hijacks sessions.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192880" y="4261110"/>
            <a:ext cx="4100514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200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Key signals: HTTP POST to web forms; script-like strings in </a:t>
            </a:r>
            <a:r>
              <a:rPr lang="en-US" sz="1200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http_uri</a:t>
            </a:r>
            <a:r>
              <a:rPr lang="en-US" sz="1200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; Repeated hits to same page from same IP; </a:t>
            </a:r>
            <a:r>
              <a:rPr lang="en-US" sz="1200" b="0" i="1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http_status_code</a:t>
            </a:r>
            <a:r>
              <a:rPr lang="en-US" sz="1200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 200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4617720" y="2924937"/>
            <a:ext cx="4160520" cy="1921382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4617720" y="2924936"/>
            <a:ext cx="91440" cy="1921381"/>
          </a:xfrm>
          <a:prstGeom prst="rect">
            <a:avLst/>
          </a:prstGeom>
          <a:solidFill>
            <a:srgbClr val="1ABC9C"/>
          </a:solidFill>
          <a:ln w="127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+mj-lt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4777740" y="2952369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4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ABC9C"/>
                </a:solidFill>
                <a:latin typeface="+mj-lt"/>
                <a:ea typeface="Calibri"/>
                <a:cs typeface="Calibri"/>
                <a:sym typeface="Calibri"/>
              </a:rPr>
              <a:t>🔑 Password</a:t>
            </a: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4754880" y="3290697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Brute-force or credential stuffing against SSH, FTP, HTTP login forms and MQTT broker authentication. Uses automated tools from Kali Linux.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4771311" y="4107379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200" b="0" i="1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Key signals: Rapid repeated connections to same dst_port; Many short flows (conn_state = S1/REJ); High dst_pkts from server (error responses)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94A3B8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7"/>
          <p:cNvSpPr/>
          <p:nvPr/>
        </p:nvSpPr>
        <p:spPr>
          <a:xfrm>
            <a:off x="365760" y="86868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365760" y="868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CLASS DISTRIBUTION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365760" y="283464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Class Distribution: Understanding the Imbalance</a:t>
            </a:r>
            <a:endParaRPr sz="2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365760" y="886968"/>
            <a:ext cx="8412480" cy="36576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8FA5BF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" name="Chart 0">
            <a:extLst>
              <a:ext uri="{FF2B5EF4-FFF2-40B4-BE49-F238E27FC236}">
                <a16:creationId xmlns:a16="http://schemas.microsoft.com/office/drawing/2014/main" id="{A730CC60-2BE1-4F97-AA00-010FEF2F9F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4678313"/>
              </p:ext>
            </p:extLst>
          </p:nvPr>
        </p:nvGraphicFramePr>
        <p:xfrm>
          <a:off x="205740" y="1113282"/>
          <a:ext cx="5486400" cy="3547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4">
            <a:extLst>
              <a:ext uri="{FF2B5EF4-FFF2-40B4-BE49-F238E27FC236}">
                <a16:creationId xmlns:a16="http://schemas.microsoft.com/office/drawing/2014/main" id="{87544A94-231A-4DCD-BB57-209D5CAF90AD}"/>
              </a:ext>
            </a:extLst>
          </p:cNvPr>
          <p:cNvSpPr/>
          <p:nvPr/>
        </p:nvSpPr>
        <p:spPr>
          <a:xfrm>
            <a:off x="5798265" y="1113282"/>
            <a:ext cx="3123248" cy="3680174"/>
          </a:xfrm>
          <a:prstGeom prst="rect">
            <a:avLst/>
          </a:prstGeom>
          <a:solidFill>
            <a:srgbClr val="0F2044"/>
          </a:solidFill>
          <a:ln w="12700">
            <a:solidFill>
              <a:srgbClr val="1A305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B9132F5B-8C0E-4130-8A7E-359639829108}"/>
              </a:ext>
            </a:extLst>
          </p:cNvPr>
          <p:cNvSpPr/>
          <p:nvPr/>
        </p:nvSpPr>
        <p:spPr>
          <a:xfrm>
            <a:off x="5861591" y="1122997"/>
            <a:ext cx="2738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+mj-lt"/>
              </a:rPr>
              <a:t>KEY INSIGHTS</a:t>
            </a:r>
            <a:endParaRPr lang="en-US" sz="1100" dirty="0">
              <a:latin typeface="+mj-lt"/>
            </a:endParaRPr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EA90E228-23F6-445E-BFBD-FD051DA1BCC1}"/>
              </a:ext>
            </a:extLst>
          </p:cNvPr>
          <p:cNvSpPr/>
          <p:nvPr/>
        </p:nvSpPr>
        <p:spPr>
          <a:xfrm>
            <a:off x="5861591" y="1421034"/>
            <a:ext cx="3018090" cy="548640"/>
          </a:xfrm>
          <a:prstGeom prst="rect">
            <a:avLst/>
          </a:prstGeom>
          <a:solidFill>
            <a:srgbClr val="1A305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8A984D06-0A19-44D1-AE95-DEFB34957347}"/>
              </a:ext>
            </a:extLst>
          </p:cNvPr>
          <p:cNvSpPr/>
          <p:nvPr/>
        </p:nvSpPr>
        <p:spPr>
          <a:xfrm>
            <a:off x="5916455" y="1457610"/>
            <a:ext cx="28868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+mj-lt"/>
              </a:rPr>
              <a:t>Scanning #1  32.0%</a:t>
            </a:r>
            <a:endParaRPr lang="en-US" sz="1200" dirty="0">
              <a:latin typeface="+mj-lt"/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27BBFA99-44D1-4F76-994B-9DF688A5B51A}"/>
              </a:ext>
            </a:extLst>
          </p:cNvPr>
          <p:cNvSpPr/>
          <p:nvPr/>
        </p:nvSpPr>
        <p:spPr>
          <a:xfrm>
            <a:off x="5916455" y="1640490"/>
            <a:ext cx="28868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Largest class: DDoS. Nmap/Nessus recon dominates the full dataset.</a:t>
            </a:r>
            <a:endParaRPr lang="en-US" sz="1200" dirty="0">
              <a:latin typeface="+mj-lt"/>
            </a:endParaRPr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004F1E5F-CC4A-43AD-A50B-05D5BB036C28}"/>
              </a:ext>
            </a:extLst>
          </p:cNvPr>
          <p:cNvSpPr/>
          <p:nvPr/>
        </p:nvSpPr>
        <p:spPr>
          <a:xfrm>
            <a:off x="5903423" y="2107692"/>
            <a:ext cx="3018090" cy="548640"/>
          </a:xfrm>
          <a:prstGeom prst="rect">
            <a:avLst/>
          </a:prstGeom>
          <a:solidFill>
            <a:srgbClr val="1A305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B7A27CE2-4ED8-40D9-B637-70BCC2D6A219}"/>
              </a:ext>
            </a:extLst>
          </p:cNvPr>
          <p:cNvSpPr/>
          <p:nvPr/>
        </p:nvSpPr>
        <p:spPr>
          <a:xfrm>
            <a:off x="5916455" y="2121407"/>
            <a:ext cx="28868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+mj-lt"/>
              </a:rPr>
              <a:t>DDoS #2  27.6%</a:t>
            </a:r>
            <a:endParaRPr lang="en-US" sz="1200" dirty="0">
              <a:latin typeface="+mj-lt"/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E65329EC-8D47-4B5F-9992-CB19278F63CE}"/>
              </a:ext>
            </a:extLst>
          </p:cNvPr>
          <p:cNvSpPr/>
          <p:nvPr/>
        </p:nvSpPr>
        <p:spPr>
          <a:xfrm>
            <a:off x="5916455" y="2304287"/>
            <a:ext cx="28868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Second largest. Combined Scanning + DDoS = ~60% of all records.</a:t>
            </a:r>
            <a:endParaRPr lang="en-US" sz="1200" dirty="0">
              <a:latin typeface="+mj-lt"/>
            </a:endParaRP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EBE153F4-ABAC-4C0D-BDDE-E291BA0019A4}"/>
              </a:ext>
            </a:extLst>
          </p:cNvPr>
          <p:cNvSpPr/>
          <p:nvPr/>
        </p:nvSpPr>
        <p:spPr>
          <a:xfrm>
            <a:off x="5850844" y="2763773"/>
            <a:ext cx="3018090" cy="548640"/>
          </a:xfrm>
          <a:prstGeom prst="rect">
            <a:avLst/>
          </a:prstGeom>
          <a:solidFill>
            <a:srgbClr val="1A305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1D3DB272-89CE-497D-8A21-3A192686C3F1}"/>
              </a:ext>
            </a:extLst>
          </p:cNvPr>
          <p:cNvSpPr/>
          <p:nvPr/>
        </p:nvSpPr>
        <p:spPr>
          <a:xfrm>
            <a:off x="5916455" y="2782062"/>
            <a:ext cx="28868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+mj-lt"/>
              </a:rPr>
              <a:t>Normal  3.6%</a:t>
            </a:r>
            <a:endParaRPr lang="en-US" sz="1200" dirty="0">
              <a:latin typeface="+mj-lt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0C80556F-BF3D-4B79-AF54-5924D1852B31}"/>
              </a:ext>
            </a:extLst>
          </p:cNvPr>
          <p:cNvSpPr/>
          <p:nvPr/>
        </p:nvSpPr>
        <p:spPr>
          <a:xfrm>
            <a:off x="5916455" y="2964942"/>
            <a:ext cx="28868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Only 796K benign flows out of 22.3M. Extreme minority</a:t>
            </a:r>
            <a:endParaRPr lang="en-US" sz="1200" dirty="0">
              <a:latin typeface="+mj-lt"/>
            </a:endParaRP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B40A1423-C582-41E8-B2EC-A2DA0D7A179E}"/>
              </a:ext>
            </a:extLst>
          </p:cNvPr>
          <p:cNvSpPr/>
          <p:nvPr/>
        </p:nvSpPr>
        <p:spPr>
          <a:xfrm>
            <a:off x="5861591" y="3424428"/>
            <a:ext cx="3018090" cy="605790"/>
          </a:xfrm>
          <a:prstGeom prst="rect">
            <a:avLst/>
          </a:prstGeom>
          <a:solidFill>
            <a:srgbClr val="1A305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7F5A9CCD-C220-48B0-B6B9-4749DDB2B484}"/>
              </a:ext>
            </a:extLst>
          </p:cNvPr>
          <p:cNvSpPr/>
          <p:nvPr/>
        </p:nvSpPr>
        <p:spPr>
          <a:xfrm>
            <a:off x="5916455" y="3461004"/>
            <a:ext cx="28868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+mj-lt"/>
              </a:rPr>
              <a:t>MITM  0.005%</a:t>
            </a:r>
            <a:endParaRPr lang="en-US" sz="1200" dirty="0">
              <a:latin typeface="+mj-lt"/>
            </a:endParaRPr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8CB9E198-5780-4B87-8B4A-497FFAF4E386}"/>
              </a:ext>
            </a:extLst>
          </p:cNvPr>
          <p:cNvSpPr/>
          <p:nvPr/>
        </p:nvSpPr>
        <p:spPr>
          <a:xfrm>
            <a:off x="5916455" y="3643884"/>
            <a:ext cx="28868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Just 1,052 records. The rarest class: a true few-shot learning problem.</a:t>
            </a:r>
            <a:endParaRPr lang="en-US" sz="1200" dirty="0">
              <a:latin typeface="+mj-lt"/>
            </a:endParaRPr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0394F083-115D-4DA8-B8EE-652126817B95}"/>
              </a:ext>
            </a:extLst>
          </p:cNvPr>
          <p:cNvSpPr/>
          <p:nvPr/>
        </p:nvSpPr>
        <p:spPr>
          <a:xfrm>
            <a:off x="5861591" y="4102582"/>
            <a:ext cx="3018090" cy="638581"/>
          </a:xfrm>
          <a:prstGeom prst="rect">
            <a:avLst/>
          </a:prstGeom>
          <a:solidFill>
            <a:srgbClr val="1A3058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EAAD7759-F372-446B-BA0D-2FA4AF3B7388}"/>
              </a:ext>
            </a:extLst>
          </p:cNvPr>
          <p:cNvSpPr/>
          <p:nvPr/>
        </p:nvSpPr>
        <p:spPr>
          <a:xfrm>
            <a:off x="5903423" y="4102583"/>
            <a:ext cx="28868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+mj-lt"/>
              </a:rPr>
              <a:t>Metric rule</a:t>
            </a:r>
            <a:endParaRPr lang="en-US" sz="1200" dirty="0">
              <a:latin typeface="+mj-lt"/>
            </a:endParaRPr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259E54AF-E0CD-4266-9BD6-999E2D85692F}"/>
              </a:ext>
            </a:extLst>
          </p:cNvPr>
          <p:cNvSpPr/>
          <p:nvPr/>
        </p:nvSpPr>
        <p:spPr>
          <a:xfrm>
            <a:off x="5916455" y="4329827"/>
            <a:ext cx="28868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Always report Macro F1, MCC, per-class Precision/Recall: never overall accuracy.</a:t>
            </a:r>
            <a:endParaRPr lang="en-US" sz="1200" dirty="0">
              <a:latin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8"/>
          <p:cNvSpPr/>
          <p:nvPr/>
        </p:nvSpPr>
        <p:spPr>
          <a:xfrm>
            <a:off x="365760" y="29718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320040" y="228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LABELING STRATEGY</a:t>
            </a:r>
            <a:endParaRPr sz="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320040" y="208026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How Ground Truth Was Created: Labeling Methodology</a:t>
            </a:r>
            <a:endParaRPr sz="24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365760" y="738664"/>
            <a:ext cx="8412480" cy="36576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365760" y="951261"/>
            <a:ext cx="8412480" cy="64007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365760" y="951262"/>
            <a:ext cx="731520" cy="640078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365760" y="951262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1097280" y="95383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Attacker IP Allocation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1188720" y="1271302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Kali Linux attack machines were assigned a fixed IP range: 192.168.159.30 – 192.168.159.39. This created a reliable, pre-known set of 'attacker' source IPs.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365760" y="1715644"/>
            <a:ext cx="8412480" cy="64007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365760" y="1715644"/>
            <a:ext cx="731520" cy="640078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365760" y="1715644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1097280" y="1745933"/>
            <a:ext cx="2286000" cy="21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Parallel Attack Execution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1097280" y="2035684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Attacks were launched simultaneously while legitimate IoT operations continued  realistic co-existence of benign and malicious traffic, not separate captures.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365760" y="2490599"/>
            <a:ext cx="8412480" cy="6697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365760" y="2490598"/>
            <a:ext cx="731520" cy="662653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365760" y="2490599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1097280" y="2494316"/>
            <a:ext cx="160448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Timestamp Logging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1097280" y="2810639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The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SecurityEvents_GroundTruth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 folder records exact start/end timestamps of every attack session, enabling precise correlation with network flow records.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365760" y="3270408"/>
            <a:ext cx="8412480" cy="64865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365760" y="3258407"/>
            <a:ext cx="731520" cy="660656"/>
          </a:xfrm>
          <a:prstGeom prst="rect">
            <a:avLst/>
          </a:prstGeom>
          <a:solidFill>
            <a:srgbClr val="16A085"/>
          </a:solidFill>
          <a:ln w="12700" cap="flat" cmpd="sng">
            <a:solidFill>
              <a:srgbClr val="16A0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365760" y="3257836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04</a:t>
            </a: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1097280" y="3267839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IP + Timestamp Tagging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1097280" y="3548444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Each ZEEK flow record is labeled: if src_ip ∈ attacker range AND ts falls within attack window → label=1, type=&lt;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attack_name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&gt;. Otherwise → label=0, type='normal'.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365760" y="3962209"/>
            <a:ext cx="8412480" cy="69551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6E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365760" y="3962210"/>
            <a:ext cx="731520" cy="695514"/>
          </a:xfrm>
          <a:prstGeom prst="rect">
            <a:avLst/>
          </a:prstGeom>
          <a:solidFill>
            <a:srgbClr val="9B59B6"/>
          </a:solidFill>
          <a:ln w="127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365760" y="396221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05</a:t>
            </a:r>
            <a:endParaRPr sz="1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1097280" y="395706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Dual Label Structure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1188720" y="4282250"/>
            <a:ext cx="766953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Two label columns: 'label' (binary: 0/1) supports Binary Classification. 'type' (multi-class: normal/ddos/dos/backdoor/...) supports Multi-Class Classification.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94A3B8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9"/>
          <p:cNvSpPr/>
          <p:nvPr/>
        </p:nvSpPr>
        <p:spPr>
          <a:xfrm>
            <a:off x="301466" y="68580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301466" y="685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CLASSIFICATION TASK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286893" y="335756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How to Use TON_IoT for Classification</a:t>
            </a:r>
            <a:endParaRPr sz="2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365760" y="914971"/>
            <a:ext cx="8412480" cy="36576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365760" y="1120140"/>
            <a:ext cx="4160520" cy="3710464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365760" y="1120140"/>
            <a:ext cx="4160520" cy="457200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475488" y="11201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⚖ BINARY CLASSIFICATION</a:t>
            </a:r>
            <a:endParaRPr sz="12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339185" y="1670136"/>
            <a:ext cx="1371600" cy="250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9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Target variable: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1482185" y="1663922"/>
            <a:ext cx="2542032" cy="317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label column (0 = normal, 1 = attack)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339185" y="2073615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9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Question: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1463897" y="2039397"/>
            <a:ext cx="2862072" cy="317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Is this network flow benign or malicious?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339185" y="258025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9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ML Models: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1463897" y="2521744"/>
            <a:ext cx="28620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Logistic Regression, SVM, Random Forest, XGBoost, MLP, CNN-LSTM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339185" y="3077527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9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Evaluation: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1463897" y="3032378"/>
            <a:ext cx="28620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Accuracy, Precision, Recall, F1-score, AUC-ROC, MCC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339185" y="3553015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9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Key Challenge: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1463897" y="3574804"/>
            <a:ext cx="290779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Class imbalance: only ~7.5% normal traffic. Must use stratified split + class weights.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339185" y="4346899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9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Best Use: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1463897" y="4242959"/>
            <a:ext cx="296669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First-level IDS alert system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4709160" y="1277944"/>
            <a:ext cx="4160520" cy="3544087"/>
          </a:xfrm>
          <a:prstGeom prst="rect">
            <a:avLst/>
          </a:prstGeom>
          <a:solidFill>
            <a:srgbClr val="0F2044"/>
          </a:solidFill>
          <a:ln w="254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+mj-lt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4709160" y="1135856"/>
            <a:ext cx="4160520" cy="45720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4818888" y="1135856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🎯 MULTI-CLASS CLASSIFICATION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4642723" y="1706241"/>
            <a:ext cx="1298448" cy="263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E67E22"/>
                </a:solidFill>
                <a:latin typeface="+mj-lt"/>
                <a:ea typeface="Calibri"/>
                <a:cs typeface="Calibri"/>
                <a:sym typeface="Calibri"/>
              </a:rPr>
              <a:t>Target variable: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5867591" y="1725109"/>
            <a:ext cx="3083814" cy="263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  <a:cs typeface="Calibri"/>
                <a:sym typeface="Calibri"/>
              </a:rPr>
              <a:t>type column (10 classes: normal + 9 attacks)</a:t>
            </a:r>
            <a:endParaRPr sz="1200" dirty="0">
              <a:solidFill>
                <a:srgbClr val="EEF3F8"/>
              </a:solidFill>
              <a:latin typeface="+mj-lt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4726162" y="216015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E67E22"/>
                </a:solidFill>
                <a:latin typeface="+mj-lt"/>
                <a:ea typeface="Calibri"/>
                <a:cs typeface="Calibri"/>
                <a:sym typeface="Calibri"/>
              </a:rPr>
              <a:t>Question: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5899594" y="2166699"/>
            <a:ext cx="2724912" cy="257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What type of attack is this flow (if any)?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4669155" y="260804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E67E22"/>
                </a:solidFill>
                <a:latin typeface="+mj-lt"/>
                <a:ea typeface="Calibri"/>
                <a:cs typeface="Calibri"/>
                <a:sym typeface="Calibri"/>
              </a:rPr>
              <a:t>ML Models: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5897880" y="2608040"/>
            <a:ext cx="2906935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Random Forest, XGBoost, GBM, Deep Neural Network, GNN</a:t>
            </a:r>
            <a:endParaRPr sz="11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4709160" y="3169503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E67E22"/>
                </a:solidFill>
                <a:latin typeface="+mj-lt"/>
                <a:ea typeface="Calibri"/>
                <a:cs typeface="Calibri"/>
                <a:sym typeface="Calibri"/>
              </a:rPr>
              <a:t>Evaluation: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5867591" y="3069615"/>
            <a:ext cx="2992373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Macro F1, Weighted F1, Confusion Matrix, Cohen's Kappa, MCC per class</a:t>
            </a:r>
            <a:endParaRPr sz="11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4709160" y="372309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E67E22"/>
                </a:solidFill>
                <a:latin typeface="+mj-lt"/>
                <a:ea typeface="Calibri"/>
                <a:cs typeface="Calibri"/>
                <a:sym typeface="Calibri"/>
              </a:rPr>
              <a:t>Key Challenge: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5824728" y="3686032"/>
            <a:ext cx="2874645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Severe class imbalance + rare classes (XSS: 5126, MITM: 3862 records). Focal Loss or SMOTE needed.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9"/>
          <p:cNvSpPr/>
          <p:nvPr/>
        </p:nvSpPr>
        <p:spPr>
          <a:xfrm>
            <a:off x="4709160" y="4398853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E67E22"/>
                </a:solidFill>
                <a:latin typeface="+mj-lt"/>
                <a:ea typeface="Calibri"/>
                <a:cs typeface="Calibri"/>
                <a:sym typeface="Calibri"/>
              </a:rPr>
              <a:t>Best Use: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5728002" y="4325523"/>
            <a:ext cx="3208115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Advanced threat intelligence &amp; attack attribution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9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8FA5BF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42">
            <a:extLst>
              <a:ext uri="{FF2B5EF4-FFF2-40B4-BE49-F238E27FC236}">
                <a16:creationId xmlns:a16="http://schemas.microsoft.com/office/drawing/2014/main" id="{9935BCA1-1C49-42E1-A54D-410B13CE3B91}"/>
              </a:ext>
            </a:extLst>
          </p:cNvPr>
          <p:cNvSpPr/>
          <p:nvPr/>
        </p:nvSpPr>
        <p:spPr>
          <a:xfrm>
            <a:off x="1307592" y="4741338"/>
            <a:ext cx="2404872" cy="265556"/>
          </a:xfrm>
          <a:prstGeom prst="rect">
            <a:avLst/>
          </a:prstGeom>
          <a:solidFill>
            <a:srgbClr val="0F2044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75" name="Shape 0">
            <a:extLst>
              <a:ext uri="{FF2B5EF4-FFF2-40B4-BE49-F238E27FC236}">
                <a16:creationId xmlns:a16="http://schemas.microsoft.com/office/drawing/2014/main" id="{AEE4FB7F-F450-4585-8AEC-75134C1E715E}"/>
              </a:ext>
            </a:extLst>
          </p:cNvPr>
          <p:cNvSpPr/>
          <p:nvPr/>
        </p:nvSpPr>
        <p:spPr>
          <a:xfrm>
            <a:off x="365760" y="27432"/>
            <a:ext cx="2011680" cy="2560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6" name="Text 1">
            <a:extLst>
              <a:ext uri="{FF2B5EF4-FFF2-40B4-BE49-F238E27FC236}">
                <a16:creationId xmlns:a16="http://schemas.microsoft.com/office/drawing/2014/main" id="{BC586B0C-60A8-4586-BF1C-25B61B10D43C}"/>
              </a:ext>
            </a:extLst>
          </p:cNvPr>
          <p:cNvSpPr/>
          <p:nvPr/>
        </p:nvSpPr>
        <p:spPr>
          <a:xfrm>
            <a:off x="365760" y="19717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+mj-lt"/>
              </a:rPr>
              <a:t>RESEARCH DIRECTIONS</a:t>
            </a:r>
            <a:endParaRPr lang="en-US" sz="1100" dirty="0">
              <a:latin typeface="+mj-lt"/>
            </a:endParaRPr>
          </a:p>
        </p:txBody>
      </p:sp>
      <p:sp>
        <p:nvSpPr>
          <p:cNvPr id="177" name="Text 2">
            <a:extLst>
              <a:ext uri="{FF2B5EF4-FFF2-40B4-BE49-F238E27FC236}">
                <a16:creationId xmlns:a16="http://schemas.microsoft.com/office/drawing/2014/main" id="{7C3DC07D-5B74-4750-91FB-405D15D2BD3C}"/>
              </a:ext>
            </a:extLst>
          </p:cNvPr>
          <p:cNvSpPr/>
          <p:nvPr/>
        </p:nvSpPr>
        <p:spPr>
          <a:xfrm>
            <a:off x="237172" y="283464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What Can Be Done With TON_IoT (network)</a:t>
            </a:r>
            <a:endParaRPr lang="en-US" sz="2800" dirty="0">
              <a:latin typeface="+mj-lt"/>
            </a:endParaRPr>
          </a:p>
        </p:txBody>
      </p:sp>
      <p:sp>
        <p:nvSpPr>
          <p:cNvPr id="178" name="Shape 3">
            <a:extLst>
              <a:ext uri="{FF2B5EF4-FFF2-40B4-BE49-F238E27FC236}">
                <a16:creationId xmlns:a16="http://schemas.microsoft.com/office/drawing/2014/main" id="{FC3A0827-93F3-4CFB-8280-4A98A61D2F75}"/>
              </a:ext>
            </a:extLst>
          </p:cNvPr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9" name="Shape 4">
            <a:extLst>
              <a:ext uri="{FF2B5EF4-FFF2-40B4-BE49-F238E27FC236}">
                <a16:creationId xmlns:a16="http://schemas.microsoft.com/office/drawing/2014/main" id="{9C9BA791-0944-4856-A3C0-16F862A40C65}"/>
              </a:ext>
            </a:extLst>
          </p:cNvPr>
          <p:cNvSpPr/>
          <p:nvPr/>
        </p:nvSpPr>
        <p:spPr>
          <a:xfrm>
            <a:off x="82296" y="1081809"/>
            <a:ext cx="1188720" cy="14733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0" name="Text 5">
            <a:extLst>
              <a:ext uri="{FF2B5EF4-FFF2-40B4-BE49-F238E27FC236}">
                <a16:creationId xmlns:a16="http://schemas.microsoft.com/office/drawing/2014/main" id="{8AF47B00-1216-4A91-A213-D48DD3BFC304}"/>
              </a:ext>
            </a:extLst>
          </p:cNvPr>
          <p:cNvSpPr/>
          <p:nvPr/>
        </p:nvSpPr>
        <p:spPr>
          <a:xfrm>
            <a:off x="82296" y="1269261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CLASSICAL &amp; Ensemble ML</a:t>
            </a:r>
            <a:endParaRPr lang="en-US" sz="1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1" name="Shape 6">
            <a:extLst>
              <a:ext uri="{FF2B5EF4-FFF2-40B4-BE49-F238E27FC236}">
                <a16:creationId xmlns:a16="http://schemas.microsoft.com/office/drawing/2014/main" id="{06C27E68-7FAE-4C4C-AFC5-94F053A8BAE0}"/>
              </a:ext>
            </a:extLst>
          </p:cNvPr>
          <p:cNvSpPr/>
          <p:nvPr/>
        </p:nvSpPr>
        <p:spPr>
          <a:xfrm>
            <a:off x="82296" y="3257550"/>
            <a:ext cx="1188720" cy="1378743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82" name="Text 7">
            <a:extLst>
              <a:ext uri="{FF2B5EF4-FFF2-40B4-BE49-F238E27FC236}">
                <a16:creationId xmlns:a16="http://schemas.microsoft.com/office/drawing/2014/main" id="{2E5A9B67-D177-4E1C-95A3-6237ED72590E}"/>
              </a:ext>
            </a:extLst>
          </p:cNvPr>
          <p:cNvSpPr/>
          <p:nvPr/>
        </p:nvSpPr>
        <p:spPr>
          <a:xfrm>
            <a:off x="82296" y="3342133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628"/>
                </a:solidFill>
                <a:latin typeface="+mj-lt"/>
              </a:rPr>
              <a:t>DEEP LEARNING</a:t>
            </a:r>
            <a:endParaRPr lang="en-US" dirty="0">
              <a:latin typeface="+mj-lt"/>
            </a:endParaRPr>
          </a:p>
        </p:txBody>
      </p:sp>
      <p:sp>
        <p:nvSpPr>
          <p:cNvPr id="187" name="Shape 12">
            <a:extLst>
              <a:ext uri="{FF2B5EF4-FFF2-40B4-BE49-F238E27FC236}">
                <a16:creationId xmlns:a16="http://schemas.microsoft.com/office/drawing/2014/main" id="{B0A3BD5D-94BE-4079-89FF-81B3E414CF0E}"/>
              </a:ext>
            </a:extLst>
          </p:cNvPr>
          <p:cNvSpPr/>
          <p:nvPr/>
        </p:nvSpPr>
        <p:spPr>
          <a:xfrm>
            <a:off x="1344168" y="1092393"/>
            <a:ext cx="2560320" cy="605298"/>
          </a:xfrm>
          <a:prstGeom prst="rect">
            <a:avLst/>
          </a:prstGeom>
          <a:solidFill>
            <a:srgbClr val="0F204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8" name="Text 13">
            <a:extLst>
              <a:ext uri="{FF2B5EF4-FFF2-40B4-BE49-F238E27FC236}">
                <a16:creationId xmlns:a16="http://schemas.microsoft.com/office/drawing/2014/main" id="{FAA126C0-49D2-42C2-A44D-5D3D3528FC9B}"/>
              </a:ext>
            </a:extLst>
          </p:cNvPr>
          <p:cNvSpPr/>
          <p:nvPr/>
        </p:nvSpPr>
        <p:spPr>
          <a:xfrm>
            <a:off x="1572768" y="1119825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7AE60"/>
                </a:solidFill>
                <a:latin typeface="+mj-lt"/>
              </a:rPr>
              <a:t>Random Forest</a:t>
            </a:r>
            <a:endParaRPr lang="en-US" dirty="0">
              <a:latin typeface="+mj-lt"/>
            </a:endParaRPr>
          </a:p>
        </p:txBody>
      </p:sp>
      <p:sp>
        <p:nvSpPr>
          <p:cNvPr id="189" name="Text 14">
            <a:extLst>
              <a:ext uri="{FF2B5EF4-FFF2-40B4-BE49-F238E27FC236}">
                <a16:creationId xmlns:a16="http://schemas.microsoft.com/office/drawing/2014/main" id="{C24E665A-9AFF-49CE-B578-4C6EBE6A7505}"/>
              </a:ext>
            </a:extLst>
          </p:cNvPr>
          <p:cNvSpPr/>
          <p:nvPr/>
        </p:nvSpPr>
        <p:spPr>
          <a:xfrm>
            <a:off x="1572768" y="1419291"/>
            <a:ext cx="2258568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fast, interpretable baseline</a:t>
            </a:r>
            <a:endParaRPr lang="en-US" sz="1200" dirty="0">
              <a:latin typeface="+mj-lt"/>
            </a:endParaRPr>
          </a:p>
        </p:txBody>
      </p:sp>
      <p:sp>
        <p:nvSpPr>
          <p:cNvPr id="190" name="Shape 15">
            <a:extLst>
              <a:ext uri="{FF2B5EF4-FFF2-40B4-BE49-F238E27FC236}">
                <a16:creationId xmlns:a16="http://schemas.microsoft.com/office/drawing/2014/main" id="{D708A1D7-0AC7-41DF-A189-D5F7BDE47EC8}"/>
              </a:ext>
            </a:extLst>
          </p:cNvPr>
          <p:cNvSpPr/>
          <p:nvPr/>
        </p:nvSpPr>
        <p:spPr>
          <a:xfrm>
            <a:off x="3977640" y="1102097"/>
            <a:ext cx="2487168" cy="708089"/>
          </a:xfrm>
          <a:prstGeom prst="rect">
            <a:avLst/>
          </a:prstGeom>
          <a:solidFill>
            <a:srgbClr val="0F204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1" name="Text 16">
            <a:extLst>
              <a:ext uri="{FF2B5EF4-FFF2-40B4-BE49-F238E27FC236}">
                <a16:creationId xmlns:a16="http://schemas.microsoft.com/office/drawing/2014/main" id="{9EACF1ED-F62B-49B9-AE0A-A29E6C774CA1}"/>
              </a:ext>
            </a:extLst>
          </p:cNvPr>
          <p:cNvSpPr/>
          <p:nvPr/>
        </p:nvSpPr>
        <p:spPr>
          <a:xfrm>
            <a:off x="4133088" y="1118672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7AE60"/>
                </a:solidFill>
                <a:latin typeface="+mj-lt"/>
              </a:rPr>
              <a:t>Gradient Boosting</a:t>
            </a:r>
            <a:endParaRPr lang="en-US" dirty="0">
              <a:latin typeface="+mj-lt"/>
            </a:endParaRPr>
          </a:p>
        </p:txBody>
      </p:sp>
      <p:sp>
        <p:nvSpPr>
          <p:cNvPr id="192" name="Text 17">
            <a:extLst>
              <a:ext uri="{FF2B5EF4-FFF2-40B4-BE49-F238E27FC236}">
                <a16:creationId xmlns:a16="http://schemas.microsoft.com/office/drawing/2014/main" id="{D872880B-F76E-4386-B835-9C08940EB4E6}"/>
              </a:ext>
            </a:extLst>
          </p:cNvPr>
          <p:cNvSpPr/>
          <p:nvPr/>
        </p:nvSpPr>
        <p:spPr>
          <a:xfrm>
            <a:off x="4133088" y="1347272"/>
            <a:ext cx="2258568" cy="342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Handles imbalance well with class weights</a:t>
            </a:r>
            <a:endParaRPr lang="en-US" sz="1200" dirty="0">
              <a:latin typeface="+mj-lt"/>
            </a:endParaRPr>
          </a:p>
        </p:txBody>
      </p:sp>
      <p:sp>
        <p:nvSpPr>
          <p:cNvPr id="193" name="Shape 18">
            <a:extLst>
              <a:ext uri="{FF2B5EF4-FFF2-40B4-BE49-F238E27FC236}">
                <a16:creationId xmlns:a16="http://schemas.microsoft.com/office/drawing/2014/main" id="{92E7AFD4-B294-48F0-9107-38E398D72120}"/>
              </a:ext>
            </a:extLst>
          </p:cNvPr>
          <p:cNvSpPr/>
          <p:nvPr/>
        </p:nvSpPr>
        <p:spPr>
          <a:xfrm>
            <a:off x="6537960" y="1102097"/>
            <a:ext cx="2404872" cy="719807"/>
          </a:xfrm>
          <a:prstGeom prst="rect">
            <a:avLst/>
          </a:prstGeom>
          <a:solidFill>
            <a:srgbClr val="0F204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4" name="Text 19">
            <a:extLst>
              <a:ext uri="{FF2B5EF4-FFF2-40B4-BE49-F238E27FC236}">
                <a16:creationId xmlns:a16="http://schemas.microsoft.com/office/drawing/2014/main" id="{6D1896A5-6450-4483-803A-30BB7867B18F}"/>
              </a:ext>
            </a:extLst>
          </p:cNvPr>
          <p:cNvSpPr/>
          <p:nvPr/>
        </p:nvSpPr>
        <p:spPr>
          <a:xfrm>
            <a:off x="6611112" y="1168964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+mj-lt"/>
              </a:rPr>
              <a:t>Naive Bayes</a:t>
            </a:r>
            <a:endParaRPr lang="en-US" sz="1100" dirty="0">
              <a:latin typeface="+mj-lt"/>
            </a:endParaRPr>
          </a:p>
        </p:txBody>
      </p:sp>
      <p:sp>
        <p:nvSpPr>
          <p:cNvPr id="195" name="Text 20">
            <a:extLst>
              <a:ext uri="{FF2B5EF4-FFF2-40B4-BE49-F238E27FC236}">
                <a16:creationId xmlns:a16="http://schemas.microsoft.com/office/drawing/2014/main" id="{BE4F6DF1-AC94-4D0B-AE09-47E76BD7B806}"/>
              </a:ext>
            </a:extLst>
          </p:cNvPr>
          <p:cNvSpPr/>
          <p:nvPr/>
        </p:nvSpPr>
        <p:spPr>
          <a:xfrm>
            <a:off x="6611112" y="1360988"/>
            <a:ext cx="2331720" cy="285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EF3F8"/>
                </a:solidFill>
                <a:latin typeface="+mj-lt"/>
              </a:rPr>
              <a:t>weak on correlated features; useful for speed</a:t>
            </a:r>
            <a:endParaRPr lang="en-US" sz="1050" dirty="0">
              <a:latin typeface="+mj-lt"/>
            </a:endParaRPr>
          </a:p>
        </p:txBody>
      </p:sp>
      <p:sp>
        <p:nvSpPr>
          <p:cNvPr id="196" name="Shape 21">
            <a:extLst>
              <a:ext uri="{FF2B5EF4-FFF2-40B4-BE49-F238E27FC236}">
                <a16:creationId xmlns:a16="http://schemas.microsoft.com/office/drawing/2014/main" id="{7556CDE3-6052-4E01-AEBC-9E1A78109D78}"/>
              </a:ext>
            </a:extLst>
          </p:cNvPr>
          <p:cNvSpPr/>
          <p:nvPr/>
        </p:nvSpPr>
        <p:spPr>
          <a:xfrm>
            <a:off x="1344168" y="1803438"/>
            <a:ext cx="2560320" cy="614625"/>
          </a:xfrm>
          <a:prstGeom prst="rect">
            <a:avLst/>
          </a:prstGeom>
          <a:solidFill>
            <a:srgbClr val="0F204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7" name="Text 22">
            <a:extLst>
              <a:ext uri="{FF2B5EF4-FFF2-40B4-BE49-F238E27FC236}">
                <a16:creationId xmlns:a16="http://schemas.microsoft.com/office/drawing/2014/main" id="{F5C1065B-A9C4-4776-967D-C526397AE248}"/>
              </a:ext>
            </a:extLst>
          </p:cNvPr>
          <p:cNvSpPr/>
          <p:nvPr/>
        </p:nvSpPr>
        <p:spPr>
          <a:xfrm>
            <a:off x="1572768" y="1856589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+mj-lt"/>
              </a:rPr>
              <a:t>XGBoost / LightGBM</a:t>
            </a:r>
            <a:endParaRPr lang="en-US" sz="1200" dirty="0">
              <a:latin typeface="+mj-lt"/>
            </a:endParaRPr>
          </a:p>
        </p:txBody>
      </p:sp>
      <p:sp>
        <p:nvSpPr>
          <p:cNvPr id="198" name="Text 23">
            <a:extLst>
              <a:ext uri="{FF2B5EF4-FFF2-40B4-BE49-F238E27FC236}">
                <a16:creationId xmlns:a16="http://schemas.microsoft.com/office/drawing/2014/main" id="{190B1C96-AB7F-42ED-B7DE-EBEC14EC55C6}"/>
              </a:ext>
            </a:extLst>
          </p:cNvPr>
          <p:cNvSpPr/>
          <p:nvPr/>
        </p:nvSpPr>
        <p:spPr>
          <a:xfrm>
            <a:off x="1572768" y="2084801"/>
            <a:ext cx="2258568" cy="2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Top performer on tabular data</a:t>
            </a:r>
            <a:endParaRPr lang="en-US" sz="1200" dirty="0">
              <a:latin typeface="+mj-lt"/>
            </a:endParaRPr>
          </a:p>
        </p:txBody>
      </p:sp>
      <p:sp>
        <p:nvSpPr>
          <p:cNvPr id="199" name="Shape 24">
            <a:extLst>
              <a:ext uri="{FF2B5EF4-FFF2-40B4-BE49-F238E27FC236}">
                <a16:creationId xmlns:a16="http://schemas.microsoft.com/office/drawing/2014/main" id="{0C908EE8-B1AD-4DC9-9DF6-B69BB87AA7B2}"/>
              </a:ext>
            </a:extLst>
          </p:cNvPr>
          <p:cNvSpPr/>
          <p:nvPr/>
        </p:nvSpPr>
        <p:spPr>
          <a:xfrm>
            <a:off x="4048114" y="1909342"/>
            <a:ext cx="2404872" cy="686527"/>
          </a:xfrm>
          <a:prstGeom prst="rect">
            <a:avLst/>
          </a:prstGeom>
          <a:solidFill>
            <a:srgbClr val="0F204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0" name="Text 25">
            <a:extLst>
              <a:ext uri="{FF2B5EF4-FFF2-40B4-BE49-F238E27FC236}">
                <a16:creationId xmlns:a16="http://schemas.microsoft.com/office/drawing/2014/main" id="{751E38D5-12FD-4766-B98C-F9DC61C81ECB}"/>
              </a:ext>
            </a:extLst>
          </p:cNvPr>
          <p:cNvSpPr/>
          <p:nvPr/>
        </p:nvSpPr>
        <p:spPr>
          <a:xfrm>
            <a:off x="4121266" y="2090689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+mj-lt"/>
              </a:rPr>
              <a:t>SVM</a:t>
            </a:r>
            <a:endParaRPr lang="en-US" sz="1200" dirty="0">
              <a:latin typeface="+mj-lt"/>
            </a:endParaRPr>
          </a:p>
        </p:txBody>
      </p:sp>
      <p:sp>
        <p:nvSpPr>
          <p:cNvPr id="201" name="Text 26">
            <a:extLst>
              <a:ext uri="{FF2B5EF4-FFF2-40B4-BE49-F238E27FC236}">
                <a16:creationId xmlns:a16="http://schemas.microsoft.com/office/drawing/2014/main" id="{36270B6B-E42E-421B-B70C-14040C29723E}"/>
              </a:ext>
            </a:extLst>
          </p:cNvPr>
          <p:cNvSpPr/>
          <p:nvPr/>
        </p:nvSpPr>
        <p:spPr>
          <a:xfrm>
            <a:off x="4121266" y="2282713"/>
            <a:ext cx="2258568" cy="313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Effective in lower dimensions</a:t>
            </a:r>
            <a:endParaRPr lang="en-US" sz="1200" dirty="0">
              <a:latin typeface="+mj-lt"/>
            </a:endParaRPr>
          </a:p>
        </p:txBody>
      </p:sp>
      <p:sp>
        <p:nvSpPr>
          <p:cNvPr id="202" name="Shape 27">
            <a:extLst>
              <a:ext uri="{FF2B5EF4-FFF2-40B4-BE49-F238E27FC236}">
                <a16:creationId xmlns:a16="http://schemas.microsoft.com/office/drawing/2014/main" id="{58D0252C-FFE6-413F-8A1F-FE244E48E8C9}"/>
              </a:ext>
            </a:extLst>
          </p:cNvPr>
          <p:cNvSpPr/>
          <p:nvPr/>
        </p:nvSpPr>
        <p:spPr>
          <a:xfrm>
            <a:off x="6532049" y="1923151"/>
            <a:ext cx="2404872" cy="659225"/>
          </a:xfrm>
          <a:prstGeom prst="rect">
            <a:avLst/>
          </a:prstGeom>
          <a:solidFill>
            <a:srgbClr val="0F204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3" name="Text 28">
            <a:extLst>
              <a:ext uri="{FF2B5EF4-FFF2-40B4-BE49-F238E27FC236}">
                <a16:creationId xmlns:a16="http://schemas.microsoft.com/office/drawing/2014/main" id="{71473197-4EA7-4E54-BF7E-C00DF226EBF0}"/>
              </a:ext>
            </a:extLst>
          </p:cNvPr>
          <p:cNvSpPr/>
          <p:nvPr/>
        </p:nvSpPr>
        <p:spPr>
          <a:xfrm>
            <a:off x="6605201" y="1976302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+mj-lt"/>
              </a:rPr>
              <a:t>k-NN / Decision Tree</a:t>
            </a:r>
            <a:endParaRPr lang="en-US" sz="1200" dirty="0">
              <a:latin typeface="+mj-lt"/>
            </a:endParaRPr>
          </a:p>
        </p:txBody>
      </p:sp>
      <p:sp>
        <p:nvSpPr>
          <p:cNvPr id="204" name="Text 29">
            <a:extLst>
              <a:ext uri="{FF2B5EF4-FFF2-40B4-BE49-F238E27FC236}">
                <a16:creationId xmlns:a16="http://schemas.microsoft.com/office/drawing/2014/main" id="{41FC4E3E-82F1-4D13-927E-AAF1F4A05D8A}"/>
              </a:ext>
            </a:extLst>
          </p:cNvPr>
          <p:cNvSpPr/>
          <p:nvPr/>
        </p:nvSpPr>
        <p:spPr>
          <a:xfrm>
            <a:off x="6605201" y="2168326"/>
            <a:ext cx="2258568" cy="349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Good for prototyping; interpretable; overfits rare classes</a:t>
            </a:r>
            <a:endParaRPr lang="en-US" sz="1200" dirty="0">
              <a:latin typeface="+mj-lt"/>
            </a:endParaRPr>
          </a:p>
        </p:txBody>
      </p:sp>
      <p:sp>
        <p:nvSpPr>
          <p:cNvPr id="205" name="Shape 30">
            <a:extLst>
              <a:ext uri="{FF2B5EF4-FFF2-40B4-BE49-F238E27FC236}">
                <a16:creationId xmlns:a16="http://schemas.microsoft.com/office/drawing/2014/main" id="{C91BC60E-24DF-432F-8030-0DF5347B5FB2}"/>
              </a:ext>
            </a:extLst>
          </p:cNvPr>
          <p:cNvSpPr/>
          <p:nvPr/>
        </p:nvSpPr>
        <p:spPr>
          <a:xfrm>
            <a:off x="1325880" y="3294131"/>
            <a:ext cx="2459736" cy="544617"/>
          </a:xfrm>
          <a:prstGeom prst="rect">
            <a:avLst/>
          </a:prstGeom>
          <a:solidFill>
            <a:srgbClr val="0F2044"/>
          </a:solidFill>
          <a:ln w="12700">
            <a:solidFill>
              <a:srgbClr val="1E8BC3"/>
            </a:solidFill>
            <a:prstDash val="soli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206" name="Text 31">
            <a:extLst>
              <a:ext uri="{FF2B5EF4-FFF2-40B4-BE49-F238E27FC236}">
                <a16:creationId xmlns:a16="http://schemas.microsoft.com/office/drawing/2014/main" id="{8D7C9C40-9179-4675-A5C2-69CB6840CAB3}"/>
              </a:ext>
            </a:extLst>
          </p:cNvPr>
          <p:cNvSpPr/>
          <p:nvPr/>
        </p:nvSpPr>
        <p:spPr>
          <a:xfrm>
            <a:off x="1435608" y="3312704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BC3"/>
                </a:solidFill>
                <a:latin typeface="+mj-lt"/>
              </a:rPr>
              <a:t>MLP / Deep DNN</a:t>
            </a:r>
            <a:endParaRPr lang="en-US" dirty="0">
              <a:latin typeface="+mj-lt"/>
            </a:endParaRPr>
          </a:p>
        </p:txBody>
      </p:sp>
      <p:sp>
        <p:nvSpPr>
          <p:cNvPr id="207" name="Text 32">
            <a:extLst>
              <a:ext uri="{FF2B5EF4-FFF2-40B4-BE49-F238E27FC236}">
                <a16:creationId xmlns:a16="http://schemas.microsoft.com/office/drawing/2014/main" id="{1D0BE12C-9432-46F9-A988-DFE3806C0D41}"/>
              </a:ext>
            </a:extLst>
          </p:cNvPr>
          <p:cNvSpPr/>
          <p:nvPr/>
        </p:nvSpPr>
        <p:spPr>
          <a:xfrm>
            <a:off x="1435608" y="3504728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learns non-linear traffic boundaries</a:t>
            </a:r>
            <a:endParaRPr lang="en-US" sz="1200" dirty="0">
              <a:latin typeface="+mj-lt"/>
            </a:endParaRPr>
          </a:p>
        </p:txBody>
      </p:sp>
      <p:sp>
        <p:nvSpPr>
          <p:cNvPr id="208" name="Shape 33">
            <a:extLst>
              <a:ext uri="{FF2B5EF4-FFF2-40B4-BE49-F238E27FC236}">
                <a16:creationId xmlns:a16="http://schemas.microsoft.com/office/drawing/2014/main" id="{E505EDB9-7F55-47C8-A553-D216BB491E0A}"/>
              </a:ext>
            </a:extLst>
          </p:cNvPr>
          <p:cNvSpPr/>
          <p:nvPr/>
        </p:nvSpPr>
        <p:spPr>
          <a:xfrm>
            <a:off x="3877056" y="3283606"/>
            <a:ext cx="2404872" cy="621742"/>
          </a:xfrm>
          <a:prstGeom prst="rect">
            <a:avLst/>
          </a:prstGeom>
          <a:solidFill>
            <a:srgbClr val="0F2044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09" name="Text 34">
            <a:extLst>
              <a:ext uri="{FF2B5EF4-FFF2-40B4-BE49-F238E27FC236}">
                <a16:creationId xmlns:a16="http://schemas.microsoft.com/office/drawing/2014/main" id="{121E2372-DFD4-425C-87F8-FE606C025356}"/>
              </a:ext>
            </a:extLst>
          </p:cNvPr>
          <p:cNvSpPr/>
          <p:nvPr/>
        </p:nvSpPr>
        <p:spPr>
          <a:xfrm>
            <a:off x="3950208" y="3311038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BC3"/>
                </a:solidFill>
                <a:latin typeface="+mj-lt"/>
              </a:rPr>
              <a:t>CNN (1D)</a:t>
            </a:r>
            <a:endParaRPr lang="en-US" dirty="0">
              <a:latin typeface="+mj-lt"/>
            </a:endParaRPr>
          </a:p>
        </p:txBody>
      </p:sp>
      <p:sp>
        <p:nvSpPr>
          <p:cNvPr id="210" name="Text 35">
            <a:extLst>
              <a:ext uri="{FF2B5EF4-FFF2-40B4-BE49-F238E27FC236}">
                <a16:creationId xmlns:a16="http://schemas.microsoft.com/office/drawing/2014/main" id="{D2F4CA91-5C38-43CA-9CA2-DAEDD3919368}"/>
              </a:ext>
            </a:extLst>
          </p:cNvPr>
          <p:cNvSpPr/>
          <p:nvPr/>
        </p:nvSpPr>
        <p:spPr>
          <a:xfrm>
            <a:off x="3950208" y="3503062"/>
            <a:ext cx="2331720" cy="31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Treats feature vector as sequence; captures local patterns</a:t>
            </a:r>
            <a:endParaRPr lang="en-US" sz="1200" dirty="0">
              <a:latin typeface="+mj-lt"/>
            </a:endParaRPr>
          </a:p>
        </p:txBody>
      </p:sp>
      <p:sp>
        <p:nvSpPr>
          <p:cNvPr id="211" name="Shape 36">
            <a:extLst>
              <a:ext uri="{FF2B5EF4-FFF2-40B4-BE49-F238E27FC236}">
                <a16:creationId xmlns:a16="http://schemas.microsoft.com/office/drawing/2014/main" id="{ADAE8FE2-06E6-415D-BC63-4DA65A2DC31D}"/>
              </a:ext>
            </a:extLst>
          </p:cNvPr>
          <p:cNvSpPr/>
          <p:nvPr/>
        </p:nvSpPr>
        <p:spPr>
          <a:xfrm>
            <a:off x="6446520" y="3279346"/>
            <a:ext cx="2514600" cy="626002"/>
          </a:xfrm>
          <a:prstGeom prst="rect">
            <a:avLst/>
          </a:prstGeom>
          <a:solidFill>
            <a:srgbClr val="0F2044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12" name="Text 37">
            <a:extLst>
              <a:ext uri="{FF2B5EF4-FFF2-40B4-BE49-F238E27FC236}">
                <a16:creationId xmlns:a16="http://schemas.microsoft.com/office/drawing/2014/main" id="{D8E646C1-E95A-4D93-960F-2568BD0A4D10}"/>
              </a:ext>
            </a:extLst>
          </p:cNvPr>
          <p:cNvSpPr/>
          <p:nvPr/>
        </p:nvSpPr>
        <p:spPr>
          <a:xfrm>
            <a:off x="6629400" y="3307351"/>
            <a:ext cx="2148840" cy="200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BC3"/>
                </a:solidFill>
                <a:latin typeface="+mj-lt"/>
              </a:rPr>
              <a:t>LSTM / GRU</a:t>
            </a:r>
            <a:endParaRPr lang="en-US" dirty="0">
              <a:latin typeface="+mj-lt"/>
            </a:endParaRPr>
          </a:p>
        </p:txBody>
      </p:sp>
      <p:sp>
        <p:nvSpPr>
          <p:cNvPr id="213" name="Text 38">
            <a:extLst>
              <a:ext uri="{FF2B5EF4-FFF2-40B4-BE49-F238E27FC236}">
                <a16:creationId xmlns:a16="http://schemas.microsoft.com/office/drawing/2014/main" id="{31548443-E6B7-4DB8-A7D5-0C28883CE106}"/>
              </a:ext>
            </a:extLst>
          </p:cNvPr>
          <p:cNvSpPr/>
          <p:nvPr/>
        </p:nvSpPr>
        <p:spPr>
          <a:xfrm>
            <a:off x="6519672" y="3498803"/>
            <a:ext cx="2258568" cy="332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Temporal dynamics: burst detection, slow-drain attacks</a:t>
            </a:r>
            <a:endParaRPr lang="en-US" sz="1200" dirty="0">
              <a:latin typeface="+mj-lt"/>
            </a:endParaRPr>
          </a:p>
        </p:txBody>
      </p:sp>
      <p:sp>
        <p:nvSpPr>
          <p:cNvPr id="214" name="Shape 39">
            <a:extLst>
              <a:ext uri="{FF2B5EF4-FFF2-40B4-BE49-F238E27FC236}">
                <a16:creationId xmlns:a16="http://schemas.microsoft.com/office/drawing/2014/main" id="{FBCF824F-8F91-4ABC-BB09-629B261ED3BE}"/>
              </a:ext>
            </a:extLst>
          </p:cNvPr>
          <p:cNvSpPr/>
          <p:nvPr/>
        </p:nvSpPr>
        <p:spPr>
          <a:xfrm>
            <a:off x="1325880" y="3906557"/>
            <a:ext cx="2459736" cy="692962"/>
          </a:xfrm>
          <a:prstGeom prst="rect">
            <a:avLst/>
          </a:prstGeom>
          <a:solidFill>
            <a:srgbClr val="0F2044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15" name="Text 40">
            <a:extLst>
              <a:ext uri="{FF2B5EF4-FFF2-40B4-BE49-F238E27FC236}">
                <a16:creationId xmlns:a16="http://schemas.microsoft.com/office/drawing/2014/main" id="{B094F241-3D13-43BB-9C85-B7D761C79A9B}"/>
              </a:ext>
            </a:extLst>
          </p:cNvPr>
          <p:cNvSpPr/>
          <p:nvPr/>
        </p:nvSpPr>
        <p:spPr>
          <a:xfrm>
            <a:off x="1380744" y="3952272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BC3"/>
                </a:solidFill>
                <a:latin typeface="+mj-lt"/>
              </a:rPr>
              <a:t>Autoencoder</a:t>
            </a:r>
            <a:endParaRPr lang="en-US" dirty="0">
              <a:latin typeface="+mj-lt"/>
            </a:endParaRPr>
          </a:p>
        </p:txBody>
      </p:sp>
      <p:sp>
        <p:nvSpPr>
          <p:cNvPr id="216" name="Text 41">
            <a:extLst>
              <a:ext uri="{FF2B5EF4-FFF2-40B4-BE49-F238E27FC236}">
                <a16:creationId xmlns:a16="http://schemas.microsoft.com/office/drawing/2014/main" id="{65B23909-931C-499F-B664-1AA14090E87C}"/>
              </a:ext>
            </a:extLst>
          </p:cNvPr>
          <p:cNvSpPr/>
          <p:nvPr/>
        </p:nvSpPr>
        <p:spPr>
          <a:xfrm>
            <a:off x="1371600" y="4195661"/>
            <a:ext cx="2414016" cy="39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Unsupervised: train on normal only; flag reconstruction error</a:t>
            </a:r>
            <a:endParaRPr lang="en-US" sz="1200" dirty="0">
              <a:latin typeface="+mj-lt"/>
            </a:endParaRPr>
          </a:p>
        </p:txBody>
      </p:sp>
      <p:sp>
        <p:nvSpPr>
          <p:cNvPr id="217" name="Shape 42">
            <a:extLst>
              <a:ext uri="{FF2B5EF4-FFF2-40B4-BE49-F238E27FC236}">
                <a16:creationId xmlns:a16="http://schemas.microsoft.com/office/drawing/2014/main" id="{71344690-E506-4354-B426-26AFA7EDB1A4}"/>
              </a:ext>
            </a:extLst>
          </p:cNvPr>
          <p:cNvSpPr/>
          <p:nvPr/>
        </p:nvSpPr>
        <p:spPr>
          <a:xfrm>
            <a:off x="3877056" y="4005359"/>
            <a:ext cx="2404872" cy="624078"/>
          </a:xfrm>
          <a:prstGeom prst="rect">
            <a:avLst/>
          </a:prstGeom>
          <a:solidFill>
            <a:srgbClr val="0F2044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18" name="Text 43">
            <a:extLst>
              <a:ext uri="{FF2B5EF4-FFF2-40B4-BE49-F238E27FC236}">
                <a16:creationId xmlns:a16="http://schemas.microsoft.com/office/drawing/2014/main" id="{39FCD299-E5A5-454B-A61A-3DF9353ECE41}"/>
              </a:ext>
            </a:extLst>
          </p:cNvPr>
          <p:cNvSpPr/>
          <p:nvPr/>
        </p:nvSpPr>
        <p:spPr>
          <a:xfrm>
            <a:off x="3950208" y="4084798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BC3"/>
                </a:solidFill>
                <a:latin typeface="+mj-lt"/>
              </a:rPr>
              <a:t>CNN-LSTM Hybrid</a:t>
            </a:r>
            <a:endParaRPr lang="en-US" dirty="0">
              <a:latin typeface="+mj-lt"/>
            </a:endParaRPr>
          </a:p>
        </p:txBody>
      </p:sp>
      <p:sp>
        <p:nvSpPr>
          <p:cNvPr id="219" name="Text 44">
            <a:extLst>
              <a:ext uri="{FF2B5EF4-FFF2-40B4-BE49-F238E27FC236}">
                <a16:creationId xmlns:a16="http://schemas.microsoft.com/office/drawing/2014/main" id="{FDFA07B3-B7A4-457C-B4D1-B9194B976DFE}"/>
              </a:ext>
            </a:extLst>
          </p:cNvPr>
          <p:cNvSpPr/>
          <p:nvPr/>
        </p:nvSpPr>
        <p:spPr>
          <a:xfrm>
            <a:off x="3950208" y="4320971"/>
            <a:ext cx="2258568" cy="28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Spatial + temporal jointly</a:t>
            </a:r>
            <a:endParaRPr lang="en-US" sz="1200" dirty="0">
              <a:latin typeface="+mj-lt"/>
            </a:endParaRPr>
          </a:p>
        </p:txBody>
      </p:sp>
      <p:sp>
        <p:nvSpPr>
          <p:cNvPr id="220" name="Shape 45">
            <a:extLst>
              <a:ext uri="{FF2B5EF4-FFF2-40B4-BE49-F238E27FC236}">
                <a16:creationId xmlns:a16="http://schemas.microsoft.com/office/drawing/2014/main" id="{AEF815CE-F37C-4FA0-BF3D-5EF730FEC4B8}"/>
              </a:ext>
            </a:extLst>
          </p:cNvPr>
          <p:cNvSpPr/>
          <p:nvPr/>
        </p:nvSpPr>
        <p:spPr>
          <a:xfrm>
            <a:off x="6446520" y="4032791"/>
            <a:ext cx="2514600" cy="636938"/>
          </a:xfrm>
          <a:prstGeom prst="rect">
            <a:avLst/>
          </a:prstGeom>
          <a:solidFill>
            <a:srgbClr val="0F2044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21" name="Text 46">
            <a:extLst>
              <a:ext uri="{FF2B5EF4-FFF2-40B4-BE49-F238E27FC236}">
                <a16:creationId xmlns:a16="http://schemas.microsoft.com/office/drawing/2014/main" id="{5850ECC9-8091-4333-8500-34B48D383F58}"/>
              </a:ext>
            </a:extLst>
          </p:cNvPr>
          <p:cNvSpPr/>
          <p:nvPr/>
        </p:nvSpPr>
        <p:spPr>
          <a:xfrm>
            <a:off x="6519672" y="4086799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BC3"/>
                </a:solidFill>
                <a:latin typeface="+mj-lt"/>
              </a:rPr>
              <a:t>Transformer / BERT</a:t>
            </a:r>
            <a:endParaRPr lang="en-US" dirty="0">
              <a:latin typeface="+mj-lt"/>
            </a:endParaRPr>
          </a:p>
        </p:txBody>
      </p:sp>
      <p:sp>
        <p:nvSpPr>
          <p:cNvPr id="222" name="Text 47">
            <a:extLst>
              <a:ext uri="{FF2B5EF4-FFF2-40B4-BE49-F238E27FC236}">
                <a16:creationId xmlns:a16="http://schemas.microsoft.com/office/drawing/2014/main" id="{FFAA96E8-9CE1-4F0B-A232-735ADD8C62E1}"/>
              </a:ext>
            </a:extLst>
          </p:cNvPr>
          <p:cNvSpPr/>
          <p:nvPr/>
        </p:nvSpPr>
        <p:spPr>
          <a:xfrm>
            <a:off x="6519672" y="4278823"/>
            <a:ext cx="2423160" cy="35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Attention over flow sequences; emerging in NIDS research</a:t>
            </a:r>
            <a:endParaRPr lang="en-US" sz="1200" dirty="0"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1177E81-B6C9-4EC8-9C22-3012D0BD0A20}"/>
              </a:ext>
            </a:extLst>
          </p:cNvPr>
          <p:cNvGrpSpPr/>
          <p:nvPr/>
        </p:nvGrpSpPr>
        <p:grpSpPr>
          <a:xfrm>
            <a:off x="1344168" y="2561440"/>
            <a:ext cx="2560320" cy="361867"/>
            <a:chOff x="1380744" y="2699172"/>
            <a:chExt cx="2404872" cy="361867"/>
          </a:xfrm>
        </p:grpSpPr>
        <p:sp>
          <p:nvSpPr>
            <p:cNvPr id="83" name="Shape 21">
              <a:extLst>
                <a:ext uri="{FF2B5EF4-FFF2-40B4-BE49-F238E27FC236}">
                  <a16:creationId xmlns:a16="http://schemas.microsoft.com/office/drawing/2014/main" id="{36D25841-9BFA-45E6-BDB4-14816E41A541}"/>
                </a:ext>
              </a:extLst>
            </p:cNvPr>
            <p:cNvSpPr/>
            <p:nvPr/>
          </p:nvSpPr>
          <p:spPr>
            <a:xfrm>
              <a:off x="1380744" y="2699172"/>
              <a:ext cx="2404872" cy="361867"/>
            </a:xfrm>
            <a:prstGeom prst="rect">
              <a:avLst/>
            </a:prstGeom>
            <a:solidFill>
              <a:srgbClr val="0F2044"/>
            </a:solidFill>
            <a:ln w="12700">
              <a:solidFill>
                <a:srgbClr val="27AE60"/>
              </a:solidFill>
              <a:prstDash val="solid"/>
            </a:ln>
          </p:spPr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486AA8E-91B2-447B-9FEA-13E4D03DDE4A}"/>
                </a:ext>
              </a:extLst>
            </p:cNvPr>
            <p:cNvSpPr txBox="1"/>
            <p:nvPr/>
          </p:nvSpPr>
          <p:spPr>
            <a:xfrm>
              <a:off x="1380744" y="2713030"/>
              <a:ext cx="231343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0" i="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AdaBoost, Bagging, Stacking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BA7708C8-BE91-47C9-8C19-8BF2205F00B5}"/>
              </a:ext>
            </a:extLst>
          </p:cNvPr>
          <p:cNvSpPr txBox="1"/>
          <p:nvPr/>
        </p:nvSpPr>
        <p:spPr>
          <a:xfrm>
            <a:off x="1271016" y="4699117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Bi-LSTM, Bi-GRU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>
            <a:extLst>
              <a:ext uri="{FF2B5EF4-FFF2-40B4-BE49-F238E27FC236}">
                <a16:creationId xmlns:a16="http://schemas.microsoft.com/office/drawing/2014/main" id="{AEE4FB7F-F450-4585-8AEC-75134C1E715E}"/>
              </a:ext>
            </a:extLst>
          </p:cNvPr>
          <p:cNvSpPr/>
          <p:nvPr/>
        </p:nvSpPr>
        <p:spPr>
          <a:xfrm>
            <a:off x="365760" y="27432"/>
            <a:ext cx="2011680" cy="2560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6" name="Text 1">
            <a:extLst>
              <a:ext uri="{FF2B5EF4-FFF2-40B4-BE49-F238E27FC236}">
                <a16:creationId xmlns:a16="http://schemas.microsoft.com/office/drawing/2014/main" id="{BC586B0C-60A8-4586-BF1C-25B61B10D43C}"/>
              </a:ext>
            </a:extLst>
          </p:cNvPr>
          <p:cNvSpPr/>
          <p:nvPr/>
        </p:nvSpPr>
        <p:spPr>
          <a:xfrm>
            <a:off x="365760" y="19717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+mj-lt"/>
              </a:rPr>
              <a:t>RESEARCH DIRECTIONS</a:t>
            </a:r>
            <a:endParaRPr lang="en-US" sz="1100" dirty="0">
              <a:latin typeface="+mj-lt"/>
            </a:endParaRPr>
          </a:p>
        </p:txBody>
      </p:sp>
      <p:sp>
        <p:nvSpPr>
          <p:cNvPr id="177" name="Text 2">
            <a:extLst>
              <a:ext uri="{FF2B5EF4-FFF2-40B4-BE49-F238E27FC236}">
                <a16:creationId xmlns:a16="http://schemas.microsoft.com/office/drawing/2014/main" id="{7C3DC07D-5B74-4750-91FB-405D15D2BD3C}"/>
              </a:ext>
            </a:extLst>
          </p:cNvPr>
          <p:cNvSpPr/>
          <p:nvPr/>
        </p:nvSpPr>
        <p:spPr>
          <a:xfrm>
            <a:off x="237172" y="283464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What Can Be Done With TON_IoT (network)</a:t>
            </a:r>
            <a:endParaRPr lang="en-US" sz="2800" dirty="0">
              <a:latin typeface="+mj-lt"/>
            </a:endParaRPr>
          </a:p>
        </p:txBody>
      </p:sp>
      <p:sp>
        <p:nvSpPr>
          <p:cNvPr id="178" name="Shape 3">
            <a:extLst>
              <a:ext uri="{FF2B5EF4-FFF2-40B4-BE49-F238E27FC236}">
                <a16:creationId xmlns:a16="http://schemas.microsoft.com/office/drawing/2014/main" id="{FC3A0827-93F3-4CFB-8280-4A98A61D2F75}"/>
              </a:ext>
            </a:extLst>
          </p:cNvPr>
          <p:cNvSpPr/>
          <p:nvPr/>
        </p:nvSpPr>
        <p:spPr>
          <a:xfrm>
            <a:off x="365760" y="841248"/>
            <a:ext cx="84124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2" name="Text 7">
            <a:extLst>
              <a:ext uri="{FF2B5EF4-FFF2-40B4-BE49-F238E27FC236}">
                <a16:creationId xmlns:a16="http://schemas.microsoft.com/office/drawing/2014/main" id="{2E5A9B67-D177-4E1C-95A3-6237ED72590E}"/>
              </a:ext>
            </a:extLst>
          </p:cNvPr>
          <p:cNvSpPr/>
          <p:nvPr/>
        </p:nvSpPr>
        <p:spPr>
          <a:xfrm>
            <a:off x="82296" y="230428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+mj-lt"/>
              </a:rPr>
              <a:t>DEEP LEARNING</a:t>
            </a:r>
            <a:endParaRPr lang="en-US" sz="800" dirty="0">
              <a:latin typeface="+mj-lt"/>
            </a:endParaRPr>
          </a:p>
        </p:txBody>
      </p:sp>
      <p:sp>
        <p:nvSpPr>
          <p:cNvPr id="183" name="Shape 8">
            <a:extLst>
              <a:ext uri="{FF2B5EF4-FFF2-40B4-BE49-F238E27FC236}">
                <a16:creationId xmlns:a16="http://schemas.microsoft.com/office/drawing/2014/main" id="{592F1619-56F3-42E7-9004-0AD28E86D957}"/>
              </a:ext>
            </a:extLst>
          </p:cNvPr>
          <p:cNvSpPr/>
          <p:nvPr/>
        </p:nvSpPr>
        <p:spPr>
          <a:xfrm>
            <a:off x="100584" y="1074944"/>
            <a:ext cx="1188720" cy="1057715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4" name="Text 9">
            <a:extLst>
              <a:ext uri="{FF2B5EF4-FFF2-40B4-BE49-F238E27FC236}">
                <a16:creationId xmlns:a16="http://schemas.microsoft.com/office/drawing/2014/main" id="{7EECF926-3181-40BD-BBDB-A6E18E199B0A}"/>
              </a:ext>
            </a:extLst>
          </p:cNvPr>
          <p:cNvSpPr/>
          <p:nvPr/>
        </p:nvSpPr>
        <p:spPr>
          <a:xfrm>
            <a:off x="82296" y="1330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+mj-lt"/>
              </a:rPr>
              <a:t>GRAPH / GNN</a:t>
            </a:r>
            <a:endParaRPr lang="en-US" sz="1200" dirty="0">
              <a:latin typeface="+mj-lt"/>
            </a:endParaRPr>
          </a:p>
        </p:txBody>
      </p:sp>
      <p:sp>
        <p:nvSpPr>
          <p:cNvPr id="185" name="Shape 10">
            <a:extLst>
              <a:ext uri="{FF2B5EF4-FFF2-40B4-BE49-F238E27FC236}">
                <a16:creationId xmlns:a16="http://schemas.microsoft.com/office/drawing/2014/main" id="{6F35411E-C4C1-47D7-B091-2FED152F4558}"/>
              </a:ext>
            </a:extLst>
          </p:cNvPr>
          <p:cNvSpPr/>
          <p:nvPr/>
        </p:nvSpPr>
        <p:spPr>
          <a:xfrm>
            <a:off x="109728" y="2683764"/>
            <a:ext cx="1188720" cy="17411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6" name="Text 11">
            <a:extLst>
              <a:ext uri="{FF2B5EF4-FFF2-40B4-BE49-F238E27FC236}">
                <a16:creationId xmlns:a16="http://schemas.microsoft.com/office/drawing/2014/main" id="{6E98E21C-9B79-4189-90ED-6261EBE13887}"/>
              </a:ext>
            </a:extLst>
          </p:cNvPr>
          <p:cNvSpPr/>
          <p:nvPr/>
        </p:nvSpPr>
        <p:spPr>
          <a:xfrm>
            <a:off x="118872" y="2752892"/>
            <a:ext cx="1188720" cy="788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+mj-lt"/>
              </a:rPr>
              <a:t>FRONTIER</a:t>
            </a:r>
            <a:endParaRPr lang="en-US" sz="1100" dirty="0">
              <a:latin typeface="+mj-lt"/>
            </a:endParaRPr>
          </a:p>
        </p:txBody>
      </p:sp>
      <p:sp>
        <p:nvSpPr>
          <p:cNvPr id="223" name="Shape 48">
            <a:extLst>
              <a:ext uri="{FF2B5EF4-FFF2-40B4-BE49-F238E27FC236}">
                <a16:creationId xmlns:a16="http://schemas.microsoft.com/office/drawing/2014/main" id="{A73ED1FB-EAD6-436F-9349-81647C00FE5A}"/>
              </a:ext>
            </a:extLst>
          </p:cNvPr>
          <p:cNvSpPr/>
          <p:nvPr/>
        </p:nvSpPr>
        <p:spPr>
          <a:xfrm>
            <a:off x="1380744" y="1188720"/>
            <a:ext cx="2404872" cy="768096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24" name="Text 49">
            <a:extLst>
              <a:ext uri="{FF2B5EF4-FFF2-40B4-BE49-F238E27FC236}">
                <a16:creationId xmlns:a16="http://schemas.microsoft.com/office/drawing/2014/main" id="{1EC35333-22FB-4ED0-BEEF-D92891605261}"/>
              </a:ext>
            </a:extLst>
          </p:cNvPr>
          <p:cNvSpPr/>
          <p:nvPr/>
        </p:nvSpPr>
        <p:spPr>
          <a:xfrm>
            <a:off x="1453896" y="1176563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9B1"/>
                </a:solidFill>
                <a:latin typeface="+mj-lt"/>
              </a:rPr>
              <a:t>GCN / GraphSAGE</a:t>
            </a:r>
            <a:endParaRPr lang="en-US" dirty="0">
              <a:latin typeface="+mj-lt"/>
            </a:endParaRPr>
          </a:p>
        </p:txBody>
      </p:sp>
      <p:sp>
        <p:nvSpPr>
          <p:cNvPr id="225" name="Text 50">
            <a:extLst>
              <a:ext uri="{FF2B5EF4-FFF2-40B4-BE49-F238E27FC236}">
                <a16:creationId xmlns:a16="http://schemas.microsoft.com/office/drawing/2014/main" id="{C6ACB03F-ED97-4797-BEE8-3EC6F581D710}"/>
              </a:ext>
            </a:extLst>
          </p:cNvPr>
          <p:cNvSpPr/>
          <p:nvPr/>
        </p:nvSpPr>
        <p:spPr>
          <a:xfrm>
            <a:off x="1453896" y="1531672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Model flows as nodes; neighbourhood aggregation</a:t>
            </a:r>
            <a:endParaRPr lang="en-US" sz="1200" dirty="0">
              <a:latin typeface="+mj-lt"/>
            </a:endParaRPr>
          </a:p>
        </p:txBody>
      </p:sp>
      <p:sp>
        <p:nvSpPr>
          <p:cNvPr id="226" name="Shape 51">
            <a:extLst>
              <a:ext uri="{FF2B5EF4-FFF2-40B4-BE49-F238E27FC236}">
                <a16:creationId xmlns:a16="http://schemas.microsoft.com/office/drawing/2014/main" id="{B54DA49D-A4E5-4416-9C21-50E49F61C93E}"/>
              </a:ext>
            </a:extLst>
          </p:cNvPr>
          <p:cNvSpPr/>
          <p:nvPr/>
        </p:nvSpPr>
        <p:spPr>
          <a:xfrm>
            <a:off x="3877056" y="1188720"/>
            <a:ext cx="2404872" cy="768096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7" name="Text 52">
            <a:extLst>
              <a:ext uri="{FF2B5EF4-FFF2-40B4-BE49-F238E27FC236}">
                <a16:creationId xmlns:a16="http://schemas.microsoft.com/office/drawing/2014/main" id="{DA300B10-FC36-4F84-84BB-9E99B060CE48}"/>
              </a:ext>
            </a:extLst>
          </p:cNvPr>
          <p:cNvSpPr/>
          <p:nvPr/>
        </p:nvSpPr>
        <p:spPr>
          <a:xfrm>
            <a:off x="3950208" y="1176563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9B1"/>
                </a:solidFill>
                <a:latin typeface="+mj-lt"/>
              </a:rPr>
              <a:t>GAT / GATv2 / TGNN</a:t>
            </a:r>
            <a:endParaRPr lang="en-US" dirty="0">
              <a:latin typeface="+mj-lt"/>
            </a:endParaRPr>
          </a:p>
        </p:txBody>
      </p:sp>
      <p:sp>
        <p:nvSpPr>
          <p:cNvPr id="228" name="Text 53">
            <a:extLst>
              <a:ext uri="{FF2B5EF4-FFF2-40B4-BE49-F238E27FC236}">
                <a16:creationId xmlns:a16="http://schemas.microsoft.com/office/drawing/2014/main" id="{39255D76-CF45-4C91-BDF5-66D3EE2BCADE}"/>
              </a:ext>
            </a:extLst>
          </p:cNvPr>
          <p:cNvSpPr/>
          <p:nvPr/>
        </p:nvSpPr>
        <p:spPr>
          <a:xfrm>
            <a:off x="3950208" y="153624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Dynamic attention on attacker-victim edges</a:t>
            </a:r>
            <a:endParaRPr lang="en-US" sz="1200" dirty="0">
              <a:latin typeface="+mj-lt"/>
            </a:endParaRPr>
          </a:p>
        </p:txBody>
      </p:sp>
      <p:sp>
        <p:nvSpPr>
          <p:cNvPr id="229" name="Shape 54">
            <a:extLst>
              <a:ext uri="{FF2B5EF4-FFF2-40B4-BE49-F238E27FC236}">
                <a16:creationId xmlns:a16="http://schemas.microsoft.com/office/drawing/2014/main" id="{EE743E74-0868-4556-9B87-902ABF82B05B}"/>
              </a:ext>
            </a:extLst>
          </p:cNvPr>
          <p:cNvSpPr/>
          <p:nvPr/>
        </p:nvSpPr>
        <p:spPr>
          <a:xfrm>
            <a:off x="6373368" y="1188720"/>
            <a:ext cx="2404872" cy="768096"/>
          </a:xfrm>
          <a:prstGeom prst="rect">
            <a:avLst/>
          </a:prstGeom>
          <a:solidFill>
            <a:srgbClr val="0F2044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0" name="Text 55">
            <a:extLst>
              <a:ext uri="{FF2B5EF4-FFF2-40B4-BE49-F238E27FC236}">
                <a16:creationId xmlns:a16="http://schemas.microsoft.com/office/drawing/2014/main" id="{75C2EA6B-47CE-4AC2-BC4B-22E489306845}"/>
              </a:ext>
            </a:extLst>
          </p:cNvPr>
          <p:cNvSpPr/>
          <p:nvPr/>
        </p:nvSpPr>
        <p:spPr>
          <a:xfrm>
            <a:off x="6446520" y="1176563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9B1"/>
                </a:solidFill>
                <a:latin typeface="+mj-lt"/>
              </a:rPr>
              <a:t>E-GraphSAGE</a:t>
            </a:r>
            <a:endParaRPr lang="en-US" dirty="0">
              <a:latin typeface="+mj-lt"/>
            </a:endParaRPr>
          </a:p>
        </p:txBody>
      </p:sp>
      <p:sp>
        <p:nvSpPr>
          <p:cNvPr id="231" name="Text 56">
            <a:extLst>
              <a:ext uri="{FF2B5EF4-FFF2-40B4-BE49-F238E27FC236}">
                <a16:creationId xmlns:a16="http://schemas.microsoft.com/office/drawing/2014/main" id="{B0B09D5B-2959-4080-9B8D-2C2047F957A8}"/>
              </a:ext>
            </a:extLst>
          </p:cNvPr>
          <p:cNvSpPr/>
          <p:nvPr/>
        </p:nvSpPr>
        <p:spPr>
          <a:xfrm>
            <a:off x="6446520" y="1531672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3F8"/>
                </a:solidFill>
                <a:latin typeface="+mj-lt"/>
              </a:rPr>
              <a:t>Edge-feature aware GNN; captures protocol-level relations</a:t>
            </a:r>
            <a:endParaRPr lang="en-US" sz="1200" dirty="0">
              <a:latin typeface="+mj-lt"/>
            </a:endParaRPr>
          </a:p>
        </p:txBody>
      </p:sp>
      <p:sp>
        <p:nvSpPr>
          <p:cNvPr id="232" name="Shape 57">
            <a:extLst>
              <a:ext uri="{FF2B5EF4-FFF2-40B4-BE49-F238E27FC236}">
                <a16:creationId xmlns:a16="http://schemas.microsoft.com/office/drawing/2014/main" id="{054693A7-79A3-4CAA-AA05-ACC55C5D5D52}"/>
              </a:ext>
            </a:extLst>
          </p:cNvPr>
          <p:cNvSpPr/>
          <p:nvPr/>
        </p:nvSpPr>
        <p:spPr>
          <a:xfrm>
            <a:off x="1380744" y="2691167"/>
            <a:ext cx="2404872" cy="850056"/>
          </a:xfrm>
          <a:prstGeom prst="rect">
            <a:avLst/>
          </a:prstGeom>
          <a:solidFill>
            <a:srgbClr val="0F20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3" name="Text 58">
            <a:extLst>
              <a:ext uri="{FF2B5EF4-FFF2-40B4-BE49-F238E27FC236}">
                <a16:creationId xmlns:a16="http://schemas.microsoft.com/office/drawing/2014/main" id="{4436CBDC-3810-460A-8C38-F1C76CA6D27A}"/>
              </a:ext>
            </a:extLst>
          </p:cNvPr>
          <p:cNvSpPr/>
          <p:nvPr/>
        </p:nvSpPr>
        <p:spPr>
          <a:xfrm>
            <a:off x="1453896" y="2702585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67E22"/>
                </a:solidFill>
                <a:latin typeface="+mj-lt"/>
              </a:rPr>
              <a:t>Federated Learning</a:t>
            </a:r>
            <a:endParaRPr lang="en-US" dirty="0">
              <a:latin typeface="+mj-lt"/>
            </a:endParaRPr>
          </a:p>
        </p:txBody>
      </p:sp>
      <p:sp>
        <p:nvSpPr>
          <p:cNvPr id="234" name="Text 59">
            <a:extLst>
              <a:ext uri="{FF2B5EF4-FFF2-40B4-BE49-F238E27FC236}">
                <a16:creationId xmlns:a16="http://schemas.microsoft.com/office/drawing/2014/main" id="{6C4E6EA9-E7BD-4903-B13A-714C742EA950}"/>
              </a:ext>
            </a:extLst>
          </p:cNvPr>
          <p:cNvSpPr/>
          <p:nvPr/>
        </p:nvSpPr>
        <p:spPr>
          <a:xfrm>
            <a:off x="1453896" y="2987670"/>
            <a:ext cx="2258568" cy="47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EF3F8"/>
                </a:solidFill>
                <a:latin typeface="+mj-lt"/>
              </a:rPr>
              <a:t>Local training per IoT node; no raw data shared; homomorphic aggregation</a:t>
            </a:r>
            <a:endParaRPr lang="en-US" sz="1050" dirty="0">
              <a:latin typeface="+mj-lt"/>
            </a:endParaRPr>
          </a:p>
        </p:txBody>
      </p:sp>
      <p:sp>
        <p:nvSpPr>
          <p:cNvPr id="235" name="Shape 60">
            <a:extLst>
              <a:ext uri="{FF2B5EF4-FFF2-40B4-BE49-F238E27FC236}">
                <a16:creationId xmlns:a16="http://schemas.microsoft.com/office/drawing/2014/main" id="{54A57721-4B87-4218-A1F3-676D6C19E160}"/>
              </a:ext>
            </a:extLst>
          </p:cNvPr>
          <p:cNvSpPr/>
          <p:nvPr/>
        </p:nvSpPr>
        <p:spPr>
          <a:xfrm>
            <a:off x="3877056" y="2687984"/>
            <a:ext cx="2404872" cy="837860"/>
          </a:xfrm>
          <a:prstGeom prst="rect">
            <a:avLst/>
          </a:prstGeom>
          <a:solidFill>
            <a:srgbClr val="0F20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6" name="Text 61">
            <a:extLst>
              <a:ext uri="{FF2B5EF4-FFF2-40B4-BE49-F238E27FC236}">
                <a16:creationId xmlns:a16="http://schemas.microsoft.com/office/drawing/2014/main" id="{29467532-9D38-4C77-ABFC-DE94908AEEBA}"/>
              </a:ext>
            </a:extLst>
          </p:cNvPr>
          <p:cNvSpPr/>
          <p:nvPr/>
        </p:nvSpPr>
        <p:spPr>
          <a:xfrm>
            <a:off x="3950208" y="2702585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67E22"/>
                </a:solidFill>
                <a:latin typeface="+mj-lt"/>
              </a:rPr>
              <a:t>GAN / CTGAN</a:t>
            </a:r>
            <a:endParaRPr lang="en-US" dirty="0">
              <a:latin typeface="+mj-lt"/>
            </a:endParaRPr>
          </a:p>
        </p:txBody>
      </p:sp>
      <p:sp>
        <p:nvSpPr>
          <p:cNvPr id="237" name="Text 62">
            <a:extLst>
              <a:ext uri="{FF2B5EF4-FFF2-40B4-BE49-F238E27FC236}">
                <a16:creationId xmlns:a16="http://schemas.microsoft.com/office/drawing/2014/main" id="{24706B2B-C307-4D75-8281-A6662FD3E046}"/>
              </a:ext>
            </a:extLst>
          </p:cNvPr>
          <p:cNvSpPr/>
          <p:nvPr/>
        </p:nvSpPr>
        <p:spPr>
          <a:xfrm>
            <a:off x="3950208" y="2987670"/>
            <a:ext cx="2258568" cy="47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EF3F8"/>
                </a:solidFill>
                <a:latin typeface="+mj-lt"/>
              </a:rPr>
              <a:t>Synthesise realistic minority attack flows (MITM: 3.8K, XSS: 5.1K) to fix class imbalance</a:t>
            </a:r>
            <a:endParaRPr lang="en-US" sz="1050" dirty="0">
              <a:latin typeface="+mj-lt"/>
            </a:endParaRPr>
          </a:p>
        </p:txBody>
      </p:sp>
      <p:sp>
        <p:nvSpPr>
          <p:cNvPr id="238" name="Shape 63">
            <a:extLst>
              <a:ext uri="{FF2B5EF4-FFF2-40B4-BE49-F238E27FC236}">
                <a16:creationId xmlns:a16="http://schemas.microsoft.com/office/drawing/2014/main" id="{45B3474E-BD13-40E4-BA32-91B8152EC28F}"/>
              </a:ext>
            </a:extLst>
          </p:cNvPr>
          <p:cNvSpPr/>
          <p:nvPr/>
        </p:nvSpPr>
        <p:spPr>
          <a:xfrm>
            <a:off x="6373368" y="2687984"/>
            <a:ext cx="2404872" cy="837860"/>
          </a:xfrm>
          <a:prstGeom prst="rect">
            <a:avLst/>
          </a:prstGeom>
          <a:solidFill>
            <a:srgbClr val="0F20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9" name="Text 64">
            <a:extLst>
              <a:ext uri="{FF2B5EF4-FFF2-40B4-BE49-F238E27FC236}">
                <a16:creationId xmlns:a16="http://schemas.microsoft.com/office/drawing/2014/main" id="{94B88F40-82EC-488A-B9EB-FE404F2A0F17}"/>
              </a:ext>
            </a:extLst>
          </p:cNvPr>
          <p:cNvSpPr/>
          <p:nvPr/>
        </p:nvSpPr>
        <p:spPr>
          <a:xfrm>
            <a:off x="6446520" y="2715417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67E22"/>
                </a:solidFill>
                <a:latin typeface="+mj-lt"/>
              </a:rPr>
              <a:t>LLM (Fine-tuned)</a:t>
            </a:r>
            <a:endParaRPr lang="en-US" dirty="0">
              <a:latin typeface="+mj-lt"/>
            </a:endParaRPr>
          </a:p>
        </p:txBody>
      </p:sp>
      <p:sp>
        <p:nvSpPr>
          <p:cNvPr id="240" name="Text 65">
            <a:extLst>
              <a:ext uri="{FF2B5EF4-FFF2-40B4-BE49-F238E27FC236}">
                <a16:creationId xmlns:a16="http://schemas.microsoft.com/office/drawing/2014/main" id="{814B22E7-A8CF-4561-B395-121706347563}"/>
              </a:ext>
            </a:extLst>
          </p:cNvPr>
          <p:cNvSpPr/>
          <p:nvPr/>
        </p:nvSpPr>
        <p:spPr>
          <a:xfrm>
            <a:off x="6446520" y="2987670"/>
            <a:ext cx="2258568" cy="47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EF3F8"/>
                </a:solidFill>
                <a:latin typeface="+mj-lt"/>
              </a:rPr>
              <a:t>Flows → text prompts; QLoRA fine-tune LLaMA; RAG for zero-shot novel attack detection</a:t>
            </a:r>
            <a:endParaRPr lang="en-US" sz="1050" dirty="0">
              <a:latin typeface="+mj-lt"/>
            </a:endParaRPr>
          </a:p>
        </p:txBody>
      </p:sp>
      <p:sp>
        <p:nvSpPr>
          <p:cNvPr id="241" name="Shape 66">
            <a:extLst>
              <a:ext uri="{FF2B5EF4-FFF2-40B4-BE49-F238E27FC236}">
                <a16:creationId xmlns:a16="http://schemas.microsoft.com/office/drawing/2014/main" id="{B61B5CAF-3AE4-49A7-9A3E-CCE58041F0B1}"/>
              </a:ext>
            </a:extLst>
          </p:cNvPr>
          <p:cNvSpPr/>
          <p:nvPr/>
        </p:nvSpPr>
        <p:spPr>
          <a:xfrm>
            <a:off x="1380744" y="3690383"/>
            <a:ext cx="2404872" cy="734561"/>
          </a:xfrm>
          <a:prstGeom prst="rect">
            <a:avLst/>
          </a:prstGeom>
          <a:solidFill>
            <a:srgbClr val="0F20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2" name="Text 67">
            <a:extLst>
              <a:ext uri="{FF2B5EF4-FFF2-40B4-BE49-F238E27FC236}">
                <a16:creationId xmlns:a16="http://schemas.microsoft.com/office/drawing/2014/main" id="{C9577191-E7C5-418B-B099-8D6F01FCB542}"/>
              </a:ext>
            </a:extLst>
          </p:cNvPr>
          <p:cNvSpPr/>
          <p:nvPr/>
        </p:nvSpPr>
        <p:spPr>
          <a:xfrm>
            <a:off x="1453896" y="3717816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+mj-lt"/>
              </a:rPr>
              <a:t>Adversarial ML</a:t>
            </a:r>
            <a:endParaRPr lang="en-US" sz="900" dirty="0">
              <a:latin typeface="+mj-lt"/>
            </a:endParaRPr>
          </a:p>
        </p:txBody>
      </p:sp>
      <p:sp>
        <p:nvSpPr>
          <p:cNvPr id="243" name="Text 68">
            <a:extLst>
              <a:ext uri="{FF2B5EF4-FFF2-40B4-BE49-F238E27FC236}">
                <a16:creationId xmlns:a16="http://schemas.microsoft.com/office/drawing/2014/main" id="{783C0281-67FD-444F-9449-517E2D3B265A}"/>
              </a:ext>
            </a:extLst>
          </p:cNvPr>
          <p:cNvSpPr/>
          <p:nvPr/>
        </p:nvSpPr>
        <p:spPr>
          <a:xfrm>
            <a:off x="1453896" y="4013917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EF3F8"/>
                </a:solidFill>
                <a:latin typeface="+mj-lt"/>
              </a:rPr>
              <a:t>FGSM / PGD perturbations on flow features; craft evasion attacks; harden IDS</a:t>
            </a:r>
            <a:endParaRPr lang="en-US" sz="1050" dirty="0">
              <a:latin typeface="+mj-lt"/>
            </a:endParaRPr>
          </a:p>
        </p:txBody>
      </p:sp>
      <p:sp>
        <p:nvSpPr>
          <p:cNvPr id="244" name="Shape 69">
            <a:extLst>
              <a:ext uri="{FF2B5EF4-FFF2-40B4-BE49-F238E27FC236}">
                <a16:creationId xmlns:a16="http://schemas.microsoft.com/office/drawing/2014/main" id="{F6B4F470-7E6E-4E45-B451-D1EFAE4D7CD2}"/>
              </a:ext>
            </a:extLst>
          </p:cNvPr>
          <p:cNvSpPr/>
          <p:nvPr/>
        </p:nvSpPr>
        <p:spPr>
          <a:xfrm>
            <a:off x="3877056" y="3690383"/>
            <a:ext cx="2404872" cy="734561"/>
          </a:xfrm>
          <a:prstGeom prst="rect">
            <a:avLst/>
          </a:prstGeom>
          <a:solidFill>
            <a:srgbClr val="0F2044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5" name="Text 70">
            <a:extLst>
              <a:ext uri="{FF2B5EF4-FFF2-40B4-BE49-F238E27FC236}">
                <a16:creationId xmlns:a16="http://schemas.microsoft.com/office/drawing/2014/main" id="{0B35B753-9074-4714-B567-ED4106D2B368}"/>
              </a:ext>
            </a:extLst>
          </p:cNvPr>
          <p:cNvSpPr/>
          <p:nvPr/>
        </p:nvSpPr>
        <p:spPr>
          <a:xfrm>
            <a:off x="3950208" y="3717816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+mj-lt"/>
              </a:rPr>
              <a:t>Continual Learning</a:t>
            </a:r>
            <a:endParaRPr lang="en-US" sz="900" dirty="0">
              <a:latin typeface="+mj-lt"/>
            </a:endParaRPr>
          </a:p>
        </p:txBody>
      </p:sp>
      <p:sp>
        <p:nvSpPr>
          <p:cNvPr id="246" name="Text 71">
            <a:extLst>
              <a:ext uri="{FF2B5EF4-FFF2-40B4-BE49-F238E27FC236}">
                <a16:creationId xmlns:a16="http://schemas.microsoft.com/office/drawing/2014/main" id="{D272BE4B-395C-4DEC-9251-C483E602C3AA}"/>
              </a:ext>
            </a:extLst>
          </p:cNvPr>
          <p:cNvSpPr/>
          <p:nvPr/>
        </p:nvSpPr>
        <p:spPr>
          <a:xfrm>
            <a:off x="3950208" y="3994457"/>
            <a:ext cx="2258568" cy="486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EF3F8"/>
                </a:solidFill>
                <a:latin typeface="+mj-lt"/>
              </a:rPr>
              <a:t>Concept drift over 27-day window; elastic weight consolidation</a:t>
            </a:r>
            <a:endParaRPr lang="en-US" sz="1050" dirty="0">
              <a:latin typeface="+mj-lt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7B3787E-501D-4BEB-90F3-0BE3E65DA1E1}"/>
              </a:ext>
            </a:extLst>
          </p:cNvPr>
          <p:cNvSpPr txBox="1"/>
          <p:nvPr/>
        </p:nvSpPr>
        <p:spPr>
          <a:xfrm>
            <a:off x="2894361" y="4567846"/>
            <a:ext cx="30981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Also can try Hybrid approached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473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1"/>
          <p:cNvSpPr/>
          <p:nvPr/>
        </p:nvSpPr>
        <p:spPr>
          <a:xfrm>
            <a:off x="398050" y="50292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+mj-lt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365760" y="1371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105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ALTERNATIVE DATASETS</a:t>
            </a:r>
            <a:endParaRPr sz="105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365760" y="293179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Other IoT Network Security Datasets: For Reference</a:t>
            </a:r>
            <a:endParaRPr sz="24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1"/>
          <p:cNvSpPr/>
          <p:nvPr/>
        </p:nvSpPr>
        <p:spPr>
          <a:xfrm>
            <a:off x="365760" y="836390"/>
            <a:ext cx="8412480" cy="36576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+mj-lt"/>
            </a:endParaRPr>
          </a:p>
        </p:txBody>
      </p:sp>
      <p:sp>
        <p:nvSpPr>
          <p:cNvPr id="547" name="Google Shape;547;p21"/>
          <p:cNvSpPr/>
          <p:nvPr/>
        </p:nvSpPr>
        <p:spPr>
          <a:xfrm>
            <a:off x="280035" y="925829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1050"/>
              <a:buFont typeface="Calibri"/>
              <a:buNone/>
            </a:pPr>
            <a:r>
              <a:rPr lang="en-US" b="0" i="1" u="none" strike="noStrike" cap="none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These datasets exist and are used in the community</a:t>
            </a:r>
            <a:endParaRPr b="0" i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365760" y="1399032"/>
            <a:ext cx="8412480" cy="548640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+mj-lt"/>
            </a:endParaRPr>
          </a:p>
        </p:txBody>
      </p:sp>
      <p:sp>
        <p:nvSpPr>
          <p:cNvPr id="549" name="Google Shape;549;p21"/>
          <p:cNvSpPr/>
          <p:nvPr/>
        </p:nvSpPr>
        <p:spPr>
          <a:xfrm>
            <a:off x="365760" y="1399032"/>
            <a:ext cx="73152" cy="548640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+mj-lt"/>
            </a:endParaRPr>
          </a:p>
        </p:txBody>
      </p:sp>
      <p:sp>
        <p:nvSpPr>
          <p:cNvPr id="550" name="Google Shape;550;p21"/>
          <p:cNvSpPr/>
          <p:nvPr/>
        </p:nvSpPr>
        <p:spPr>
          <a:xfrm>
            <a:off x="548640" y="144475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BC3"/>
              </a:buClr>
              <a:buSzPts val="1100"/>
              <a:buFont typeface="Calibri"/>
              <a:buNone/>
            </a:pPr>
            <a:r>
              <a:rPr lang="en-US" sz="1600" b="1" i="0" u="sng" strike="noStrike" cap="none" dirty="0">
                <a:solidFill>
                  <a:srgbClr val="00B0F0"/>
                </a:solidFill>
                <a:latin typeface="+mj-lt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UNSW-NB15</a:t>
            </a:r>
            <a:endParaRPr sz="1600" b="0" i="0" u="sng" strike="noStrike" cap="none" dirty="0">
              <a:solidFill>
                <a:srgbClr val="00B0F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548640" y="167335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2015</a:t>
            </a:r>
            <a:endParaRPr sz="1100" b="0" i="0" u="none" strike="noStrike" cap="none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1"/>
          <p:cNvSpPr/>
          <p:nvPr/>
        </p:nvSpPr>
        <p:spPr>
          <a:xfrm>
            <a:off x="2103120" y="144475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Size: 2.5M records, 49 features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1"/>
          <p:cNvSpPr/>
          <p:nvPr/>
        </p:nvSpPr>
        <p:spPr>
          <a:xfrm>
            <a:off x="2103120" y="1673352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Attacks: 9 types</a:t>
            </a:r>
            <a:endParaRPr sz="1200" b="0" i="0" u="none" strike="noStrike" cap="none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4846320" y="150876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1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Same lab (UNSW); no IoT sensors; strong baseline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365760" y="2011680"/>
            <a:ext cx="8412480" cy="548640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16A0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+mj-lt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365760" y="2011680"/>
            <a:ext cx="73152" cy="548640"/>
          </a:xfrm>
          <a:prstGeom prst="rect">
            <a:avLst/>
          </a:prstGeom>
          <a:solidFill>
            <a:srgbClr val="16A085"/>
          </a:solidFill>
          <a:ln w="12700" cap="flat" cmpd="sng">
            <a:solidFill>
              <a:srgbClr val="16A0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+mj-lt"/>
            </a:endParaRPr>
          </a:p>
        </p:txBody>
      </p:sp>
      <p:sp>
        <p:nvSpPr>
          <p:cNvPr id="557" name="Google Shape;557;p21"/>
          <p:cNvSpPr/>
          <p:nvPr/>
        </p:nvSpPr>
        <p:spPr>
          <a:xfrm>
            <a:off x="548640" y="205740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085"/>
              </a:buClr>
              <a:buSzPts val="11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00B050"/>
                </a:solidFill>
                <a:latin typeface="+mj-lt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Bot-IoT</a:t>
            </a:r>
            <a:endParaRPr sz="1600" b="0" i="0" u="none" strike="noStrike" cap="none" dirty="0">
              <a:solidFill>
                <a:srgbClr val="00B05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1"/>
          <p:cNvSpPr/>
          <p:nvPr/>
        </p:nvSpPr>
        <p:spPr>
          <a:xfrm>
            <a:off x="548640" y="228600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2018</a:t>
            </a:r>
            <a:endParaRPr sz="1100" b="0" i="0" u="none" strike="noStrike" cap="none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2103120" y="20574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Size: 72M records, 46 features</a:t>
            </a:r>
            <a:endParaRPr sz="12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1"/>
          <p:cNvSpPr/>
          <p:nvPr/>
        </p:nvSpPr>
        <p:spPr>
          <a:xfrm>
            <a:off x="2103120" y="228600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90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Attacks: 5 types</a:t>
            </a:r>
            <a:endParaRPr sz="1200" b="0" i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1"/>
          <p:cNvSpPr/>
          <p:nvPr/>
        </p:nvSpPr>
        <p:spPr>
          <a:xfrm>
            <a:off x="4846320" y="2121408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1" u="none" strike="noStrike" cap="none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IoT botnet-specific; DDoS/DoS/Theft; from UNSW</a:t>
            </a:r>
            <a:endParaRPr sz="12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1"/>
          <p:cNvSpPr/>
          <p:nvPr/>
        </p:nvSpPr>
        <p:spPr>
          <a:xfrm>
            <a:off x="365760" y="2624328"/>
            <a:ext cx="8412480" cy="548640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+mj-lt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365760" y="2624328"/>
            <a:ext cx="73152" cy="548640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+mj-lt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548640" y="267004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E67E22"/>
                </a:solidFill>
                <a:latin typeface="+mj-lt"/>
                <a:ea typeface="Calibri"/>
                <a:cs typeface="Calibri"/>
                <a:sym typeface="Calibri"/>
              </a:rPr>
              <a:t>CICIDS2017</a:t>
            </a:r>
            <a:endParaRPr sz="16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548640" y="289864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2017</a:t>
            </a:r>
            <a:endParaRPr sz="1100" b="0" i="0" u="none" strike="noStrike" cap="none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2103120" y="2670048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Size: 2.8M records, 78 features</a:t>
            </a:r>
            <a:endParaRPr sz="12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2103120" y="289864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Attacks: 14 types</a:t>
            </a:r>
            <a:endParaRPr sz="1200" b="0" i="0" u="none" strike="noStrike" cap="none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1"/>
          <p:cNvSpPr/>
          <p:nvPr/>
        </p:nvSpPr>
        <p:spPr>
          <a:xfrm>
            <a:off x="4846320" y="2734056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1" u="none" strike="noStrike" cap="none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Canadian Institute for Cybersecurity; no IoT sensors</a:t>
            </a:r>
            <a:endParaRPr sz="12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365760" y="3236976"/>
            <a:ext cx="8412480" cy="548640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+mj-lt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365760" y="3236976"/>
            <a:ext cx="73152" cy="548640"/>
          </a:xfrm>
          <a:prstGeom prst="rect">
            <a:avLst/>
          </a:prstGeom>
          <a:solidFill>
            <a:srgbClr val="9B59B6"/>
          </a:solidFill>
          <a:ln w="127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+mj-lt"/>
            </a:endParaRPr>
          </a:p>
        </p:txBody>
      </p:sp>
      <p:sp>
        <p:nvSpPr>
          <p:cNvPr id="571" name="Google Shape;571;p21"/>
          <p:cNvSpPr/>
          <p:nvPr/>
        </p:nvSpPr>
        <p:spPr>
          <a:xfrm>
            <a:off x="548640" y="3282696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100"/>
              <a:buFont typeface="Calibri"/>
              <a:buNone/>
            </a:pPr>
            <a:r>
              <a:rPr lang="en-US" sz="1600" b="1" i="0" u="none" strike="noStrike" cap="none">
                <a:solidFill>
                  <a:srgbClr val="9B59B6"/>
                </a:solidFill>
                <a:latin typeface="+mj-lt"/>
                <a:ea typeface="Calibri"/>
                <a:cs typeface="Calibri"/>
                <a:sym typeface="Calibri"/>
              </a:rPr>
              <a:t>Edge-IIoTset</a:t>
            </a:r>
            <a:endParaRPr sz="16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548640" y="351129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2022</a:t>
            </a:r>
            <a:endParaRPr sz="1100" b="0" i="0" u="none" strike="noStrike" cap="none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1"/>
          <p:cNvSpPr/>
          <p:nvPr/>
        </p:nvSpPr>
        <p:spPr>
          <a:xfrm>
            <a:off x="2103120" y="3282696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Size: 20.9M records, 61 features</a:t>
            </a:r>
            <a:endParaRPr sz="12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2103120" y="3511296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900"/>
              <a:buFont typeface="Calibri"/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Attacks: 14 types</a:t>
            </a:r>
            <a:endParaRPr sz="1200" b="0" i="0" u="none" strike="noStrike" cap="none" dirty="0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4846320" y="3346704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1" u="none" strike="noStrike" cap="none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Covers MQTT/CoAP/Zigbee IoT protocols; newer</a:t>
            </a:r>
            <a:endParaRPr sz="12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365760" y="3849624"/>
            <a:ext cx="8412480" cy="548640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+mj-lt"/>
            </a:endParaRPr>
          </a:p>
        </p:txBody>
      </p:sp>
      <p:sp>
        <p:nvSpPr>
          <p:cNvPr id="577" name="Google Shape;577;p21"/>
          <p:cNvSpPr/>
          <p:nvPr/>
        </p:nvSpPr>
        <p:spPr>
          <a:xfrm>
            <a:off x="365760" y="3849624"/>
            <a:ext cx="73152" cy="548640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+mj-lt"/>
            </a:endParaRPr>
          </a:p>
        </p:txBody>
      </p:sp>
      <p:sp>
        <p:nvSpPr>
          <p:cNvPr id="578" name="Google Shape;578;p21"/>
          <p:cNvSpPr/>
          <p:nvPr/>
        </p:nvSpPr>
        <p:spPr>
          <a:xfrm>
            <a:off x="548640" y="389534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E74C3C"/>
                </a:solidFill>
                <a:latin typeface="+mj-lt"/>
                <a:ea typeface="Calibri"/>
                <a:cs typeface="Calibri"/>
                <a:sym typeface="Calibri"/>
              </a:rPr>
              <a:t>IoT-23 </a:t>
            </a:r>
            <a:endParaRPr sz="16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1"/>
          <p:cNvSpPr/>
          <p:nvPr/>
        </p:nvSpPr>
        <p:spPr>
          <a:xfrm>
            <a:off x="548640" y="412394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2020</a:t>
            </a:r>
            <a:endParaRPr sz="1100" b="0" i="0" u="none" strike="noStrike" cap="none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1"/>
          <p:cNvSpPr/>
          <p:nvPr/>
        </p:nvSpPr>
        <p:spPr>
          <a:xfrm>
            <a:off x="2103120" y="3895344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0" u="none" strike="noStrike" cap="none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Size: 20 captures, pcap</a:t>
            </a:r>
            <a:endParaRPr sz="12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2103120" y="4123944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+mj-lt"/>
                <a:ea typeface="Calibri"/>
                <a:cs typeface="Calibri"/>
                <a:sym typeface="Calibri"/>
              </a:rPr>
              <a:t>Attacks: 20 malware types</a:t>
            </a:r>
            <a:endParaRPr sz="1200" b="0" i="0" u="none" strike="noStrike" cap="none">
              <a:solidFill>
                <a:schemeClr val="bg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1"/>
          <p:cNvSpPr/>
          <p:nvPr/>
        </p:nvSpPr>
        <p:spPr>
          <a:xfrm>
            <a:off x="4846320" y="395935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sz="1200" b="0" i="1" u="none" strike="noStrike" cap="none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Real Raspberry Pi IoT device; unlabeled pcap format</a:t>
            </a:r>
            <a:endParaRPr sz="12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5BF"/>
              </a:buClr>
              <a:buSzPts val="800"/>
              <a:buFont typeface="Calibri"/>
              <a:buNone/>
            </a:pPr>
            <a:r>
              <a:rPr lang="en-US" sz="1050" b="0" i="1" u="none" strike="noStrike" cap="none">
                <a:solidFill>
                  <a:srgbClr val="8FA5BF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105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2"/>
          <p:cNvSpPr/>
          <p:nvPr/>
        </p:nvSpPr>
        <p:spPr>
          <a:xfrm>
            <a:off x="365760" y="-2858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590" name="Google Shape;590;p22"/>
          <p:cNvSpPr/>
          <p:nvPr/>
        </p:nvSpPr>
        <p:spPr>
          <a:xfrm>
            <a:off x="365760" y="457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RESEARCH SCOPE</a:t>
            </a:r>
            <a:endParaRPr sz="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365760" y="356616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What Can You Build With TON_IoT?</a:t>
            </a:r>
            <a:endParaRPr sz="2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365760" y="1003554"/>
            <a:ext cx="8412480" cy="36576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593" name="Google Shape;593;p22"/>
          <p:cNvSpPr/>
          <p:nvPr/>
        </p:nvSpPr>
        <p:spPr>
          <a:xfrm>
            <a:off x="242888" y="1417320"/>
            <a:ext cx="2774632" cy="3355848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594" name="Google Shape;594;p22"/>
          <p:cNvSpPr/>
          <p:nvPr/>
        </p:nvSpPr>
        <p:spPr>
          <a:xfrm>
            <a:off x="242888" y="1417320"/>
            <a:ext cx="2774632" cy="347472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595" name="Google Shape;595;p22"/>
          <p:cNvSpPr/>
          <p:nvPr/>
        </p:nvSpPr>
        <p:spPr>
          <a:xfrm>
            <a:off x="274320" y="141732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Intrusion Detection Systems (IDS)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2"/>
          <p:cNvSpPr/>
          <p:nvPr/>
        </p:nvSpPr>
        <p:spPr>
          <a:xfrm>
            <a:off x="274320" y="1801367"/>
            <a:ext cx="2670048" cy="286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Binary IDS: classify traffic as benign vs. malicious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Multi-class IDS: identify exact attack type (9 classes)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Real-time streaming IDS using sliding time windows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Federated IDS across distributed IoT nodes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2"/>
          <p:cNvSpPr/>
          <p:nvPr/>
        </p:nvSpPr>
        <p:spPr>
          <a:xfrm>
            <a:off x="3200400" y="1417320"/>
            <a:ext cx="2651760" cy="3355848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598" name="Google Shape;598;p22"/>
          <p:cNvSpPr/>
          <p:nvPr/>
        </p:nvSpPr>
        <p:spPr>
          <a:xfrm>
            <a:off x="3200400" y="1417320"/>
            <a:ext cx="2651760" cy="34747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599" name="Google Shape;599;p22"/>
          <p:cNvSpPr/>
          <p:nvPr/>
        </p:nvSpPr>
        <p:spPr>
          <a:xfrm>
            <a:off x="3291840" y="14173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Feature Engineering Research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2"/>
          <p:cNvSpPr/>
          <p:nvPr/>
        </p:nvSpPr>
        <p:spPr>
          <a:xfrm>
            <a:off x="3291840" y="1801367"/>
            <a:ext cx="2487168" cy="286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Entropy-based features for DoS vs. DDoS separation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Temporal aggregation: rolling window statistics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Graph-level features from flow-to-flow topology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Feature selection: SHAP, Boruta, Mutual Information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2"/>
          <p:cNvSpPr/>
          <p:nvPr/>
        </p:nvSpPr>
        <p:spPr>
          <a:xfrm>
            <a:off x="6035040" y="1417320"/>
            <a:ext cx="2651760" cy="3355848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602" name="Google Shape;602;p22"/>
          <p:cNvSpPr/>
          <p:nvPr/>
        </p:nvSpPr>
        <p:spPr>
          <a:xfrm>
            <a:off x="6044184" y="1399603"/>
            <a:ext cx="2651760" cy="347472"/>
          </a:xfrm>
          <a:prstGeom prst="rect">
            <a:avLst/>
          </a:prstGeom>
          <a:solidFill>
            <a:srgbClr val="9B59B6"/>
          </a:solidFill>
          <a:ln w="127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+mj-lt"/>
            </a:endParaRPr>
          </a:p>
        </p:txBody>
      </p:sp>
      <p:sp>
        <p:nvSpPr>
          <p:cNvPr id="603" name="Google Shape;603;p22"/>
          <p:cNvSpPr/>
          <p:nvPr/>
        </p:nvSpPr>
        <p:spPr>
          <a:xfrm>
            <a:off x="6309360" y="1356169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Class Imbalance Handling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2"/>
          <p:cNvSpPr/>
          <p:nvPr/>
        </p:nvSpPr>
        <p:spPr>
          <a:xfrm>
            <a:off x="6126480" y="1801367"/>
            <a:ext cx="2487168" cy="286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SMOTE / ADASYN oversampling for minority attacks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Focal Loss training to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penalise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 rare-class errors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Cost-sensitive learning &amp; class-weight tuning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One-class classification for anomaly detection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94A3B8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0884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2"/>
          <p:cNvSpPr/>
          <p:nvPr/>
        </p:nvSpPr>
        <p:spPr>
          <a:xfrm>
            <a:off x="365760" y="-2858"/>
            <a:ext cx="2011680" cy="25603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590" name="Google Shape;590;p22"/>
          <p:cNvSpPr/>
          <p:nvPr/>
        </p:nvSpPr>
        <p:spPr>
          <a:xfrm>
            <a:off x="365760" y="457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RESEARCH SCOPE</a:t>
            </a:r>
            <a:endParaRPr sz="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A1628"/>
                </a:solidFill>
                <a:latin typeface="+mj-lt"/>
                <a:ea typeface="Calibri"/>
                <a:cs typeface="Calibri"/>
                <a:sym typeface="Calibri"/>
              </a:rPr>
              <a:t>What Can You Build With TON_IoT?</a:t>
            </a:r>
            <a:endParaRPr sz="2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365760" y="1243584"/>
            <a:ext cx="8412480" cy="36576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605" name="Google Shape;605;p22"/>
          <p:cNvSpPr/>
          <p:nvPr/>
        </p:nvSpPr>
        <p:spPr>
          <a:xfrm>
            <a:off x="365760" y="1513331"/>
            <a:ext cx="2651760" cy="3208687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606" name="Google Shape;606;p22"/>
          <p:cNvSpPr/>
          <p:nvPr/>
        </p:nvSpPr>
        <p:spPr>
          <a:xfrm>
            <a:off x="365760" y="1513332"/>
            <a:ext cx="2651760" cy="347472"/>
          </a:xfrm>
          <a:prstGeom prst="rect">
            <a:avLst/>
          </a:prstGeom>
          <a:solidFill>
            <a:srgbClr val="E67E22"/>
          </a:solidFill>
          <a:ln w="12700" cap="flat" cmpd="sng">
            <a:solidFill>
              <a:srgbClr val="E67E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607" name="Google Shape;607;p22"/>
          <p:cNvSpPr/>
          <p:nvPr/>
        </p:nvSpPr>
        <p:spPr>
          <a:xfrm>
            <a:off x="457200" y="151333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Advanced ML / DL Models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2"/>
          <p:cNvSpPr/>
          <p:nvPr/>
        </p:nvSpPr>
        <p:spPr>
          <a:xfrm>
            <a:off x="457200" y="1897380"/>
            <a:ext cx="2487168" cy="267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Graph Neural Networks on flow-graph topology 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endParaRPr lang="en-US"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Transformer / Attention models on flow sequences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Autoencoder-based unsupervised anomaly detection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Adversarially robust models (PGD, FGSM hardening)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2"/>
          <p:cNvSpPr/>
          <p:nvPr/>
        </p:nvSpPr>
        <p:spPr>
          <a:xfrm>
            <a:off x="3200400" y="1513331"/>
            <a:ext cx="2651760" cy="3208687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6A08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610" name="Google Shape;610;p22"/>
          <p:cNvSpPr/>
          <p:nvPr/>
        </p:nvSpPr>
        <p:spPr>
          <a:xfrm>
            <a:off x="3200400" y="1513332"/>
            <a:ext cx="2651760" cy="347472"/>
          </a:xfrm>
          <a:prstGeom prst="rect">
            <a:avLst/>
          </a:prstGeom>
          <a:solidFill>
            <a:srgbClr val="16A085"/>
          </a:solidFill>
          <a:ln w="12700" cap="flat" cmpd="sng">
            <a:solidFill>
              <a:srgbClr val="16A0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611" name="Google Shape;611;p22"/>
          <p:cNvSpPr/>
          <p:nvPr/>
        </p:nvSpPr>
        <p:spPr>
          <a:xfrm>
            <a:off x="3291840" y="151333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Explainability &amp; Interpretability</a:t>
            </a:r>
            <a:endParaRPr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2"/>
          <p:cNvSpPr/>
          <p:nvPr/>
        </p:nvSpPr>
        <p:spPr>
          <a:xfrm>
            <a:off x="3291840" y="1897380"/>
            <a:ext cx="2487168" cy="267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SHAP values: which features drive each attack type?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GNNExplainer: which sub-graphs signal an attack?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Attention weight </a:t>
            </a:r>
            <a:r>
              <a:rPr lang="en-US" sz="1200" b="0" i="0" u="none" strike="noStrike" cap="none" dirty="0" err="1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visualisation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 across flow sequences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Decision boundary analysis for rare attack classes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2"/>
          <p:cNvSpPr/>
          <p:nvPr/>
        </p:nvSpPr>
        <p:spPr>
          <a:xfrm>
            <a:off x="6035040" y="1513331"/>
            <a:ext cx="2651760" cy="3208687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E91E6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614" name="Google Shape;614;p22"/>
          <p:cNvSpPr/>
          <p:nvPr/>
        </p:nvSpPr>
        <p:spPr>
          <a:xfrm>
            <a:off x="6035040" y="1513332"/>
            <a:ext cx="2651760" cy="347472"/>
          </a:xfrm>
          <a:prstGeom prst="rect">
            <a:avLst/>
          </a:prstGeom>
          <a:solidFill>
            <a:srgbClr val="E91E63"/>
          </a:solidFill>
          <a:ln w="12700" cap="flat" cmpd="sng">
            <a:solidFill>
              <a:srgbClr val="E91E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6126480" y="151333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Cross-Dataset &amp; Generalisation</a:t>
            </a:r>
            <a:endParaRPr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6126480" y="1897380"/>
            <a:ext cx="2487168" cy="267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Transfer learning: train on TON_IoT, test on Bot-IoT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Zero-shot detection of unseen attack types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Domain adaptation across different IoT environments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Calibri"/>
              <a:buChar char="•"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Benchmark comparison: TON_IoT vs. UNSW-NB15 vs. Edge-IIoTset</a:t>
            </a:r>
            <a:endParaRPr sz="1200" b="0" i="0" u="none" strike="noStrike" cap="none" dirty="0">
              <a:solidFill>
                <a:schemeClr val="tx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94A3B8"/>
                </a:solidFill>
                <a:latin typeface="+mj-lt"/>
                <a:ea typeface="Calibri"/>
                <a:cs typeface="Calibri"/>
                <a:sym typeface="Calibri"/>
              </a:rPr>
              <a:t>TON_IoT Dataset | Network Traffic Classification</a:t>
            </a:r>
            <a:endParaRPr sz="8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24" name="Google Shape;624;p23"/>
          <p:cNvSpPr/>
          <p:nvPr/>
        </p:nvSpPr>
        <p:spPr>
          <a:xfrm>
            <a:off x="365760" y="228600"/>
            <a:ext cx="8412480" cy="397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What We Covered Today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365759" y="630936"/>
            <a:ext cx="5029200" cy="45720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26" name="Google Shape;626;p23"/>
          <p:cNvSpPr/>
          <p:nvPr/>
        </p:nvSpPr>
        <p:spPr>
          <a:xfrm>
            <a:off x="365759" y="1115568"/>
            <a:ext cx="8063865" cy="621792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1A30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27" name="Google Shape;627;p23"/>
          <p:cNvSpPr/>
          <p:nvPr/>
        </p:nvSpPr>
        <p:spPr>
          <a:xfrm>
            <a:off x="365760" y="1115568"/>
            <a:ext cx="64008" cy="62179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28" name="Google Shape;628;p23"/>
          <p:cNvSpPr/>
          <p:nvPr/>
        </p:nvSpPr>
        <p:spPr>
          <a:xfrm>
            <a:off x="557497" y="1243584"/>
            <a:ext cx="1078421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000"/>
              <a:buFont typeface="Calibri"/>
              <a:buNone/>
            </a:pPr>
            <a:r>
              <a:rPr lang="en-US" b="1" i="0" u="none" strike="noStrike" cap="none" dirty="0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Motivation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3"/>
          <p:cNvSpPr/>
          <p:nvPr/>
        </p:nvSpPr>
        <p:spPr>
          <a:xfrm>
            <a:off x="2317430" y="1264158"/>
            <a:ext cx="4476276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Why IoT traffic needs its own security datasets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3"/>
          <p:cNvSpPr/>
          <p:nvPr/>
        </p:nvSpPr>
        <p:spPr>
          <a:xfrm>
            <a:off x="365759" y="2061972"/>
            <a:ext cx="8063863" cy="621792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1A30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35" name="Google Shape;635;p23"/>
          <p:cNvSpPr/>
          <p:nvPr/>
        </p:nvSpPr>
        <p:spPr>
          <a:xfrm>
            <a:off x="365760" y="2052256"/>
            <a:ext cx="64008" cy="62179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36" name="Google Shape;636;p23"/>
          <p:cNvSpPr/>
          <p:nvPr/>
        </p:nvSpPr>
        <p:spPr>
          <a:xfrm>
            <a:off x="502920" y="2089404"/>
            <a:ext cx="1486586" cy="452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000"/>
              <a:buFont typeface="Calibri"/>
              <a:buNone/>
            </a:pPr>
            <a:r>
              <a:rPr lang="en-US" b="1" i="0" u="none" strike="noStrike" cap="none" dirty="0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Where was TON_IoT made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3"/>
          <p:cNvSpPr/>
          <p:nvPr/>
        </p:nvSpPr>
        <p:spPr>
          <a:xfrm>
            <a:off x="2330293" y="2123694"/>
            <a:ext cx="5758542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Dr Nour </a:t>
            </a:r>
            <a:r>
              <a:rPr lang="en-US" b="0" i="0" u="none" strike="noStrike" cap="none" dirty="0" err="1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Moustafa</a:t>
            </a: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, UNSW Canberra, 2019–2021 | Edge–Fog–Cloud testbed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3"/>
          <p:cNvSpPr/>
          <p:nvPr/>
        </p:nvSpPr>
        <p:spPr>
          <a:xfrm>
            <a:off x="365760" y="2968942"/>
            <a:ext cx="8063862" cy="621792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1A30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639" name="Google Shape;639;p23"/>
          <p:cNvSpPr/>
          <p:nvPr/>
        </p:nvSpPr>
        <p:spPr>
          <a:xfrm>
            <a:off x="365760" y="2968942"/>
            <a:ext cx="64008" cy="62179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40" name="Google Shape;640;p23"/>
          <p:cNvSpPr/>
          <p:nvPr/>
        </p:nvSpPr>
        <p:spPr>
          <a:xfrm>
            <a:off x="502920" y="2996374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000"/>
              <a:buFont typeface="Calibri"/>
              <a:buNone/>
            </a:pPr>
            <a:r>
              <a:rPr lang="en-US" b="1" i="0" u="none" strike="noStrike" cap="none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4 Data Sources</a:t>
            </a:r>
            <a:endParaRPr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3"/>
          <p:cNvSpPr/>
          <p:nvPr/>
        </p:nvSpPr>
        <p:spPr>
          <a:xfrm>
            <a:off x="2382295" y="3051238"/>
            <a:ext cx="5907754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Telemetry (T), OS (O), Network (N) — real devices, real attacks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3"/>
          <p:cNvSpPr/>
          <p:nvPr/>
        </p:nvSpPr>
        <p:spPr>
          <a:xfrm>
            <a:off x="365760" y="3895344"/>
            <a:ext cx="8063862" cy="621792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1A30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365760" y="3895344"/>
            <a:ext cx="64008" cy="621792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44" name="Google Shape;644;p23"/>
          <p:cNvSpPr/>
          <p:nvPr/>
        </p:nvSpPr>
        <p:spPr>
          <a:xfrm>
            <a:off x="462055" y="4000500"/>
            <a:ext cx="1855375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1000"/>
              <a:buFont typeface="Calibri"/>
              <a:buNone/>
            </a:pPr>
            <a:r>
              <a:rPr lang="en-US" b="1" i="0" u="none" strike="noStrike" cap="none" dirty="0">
                <a:solidFill>
                  <a:srgbClr val="00C9B1"/>
                </a:solidFill>
                <a:latin typeface="+mj-lt"/>
                <a:ea typeface="Calibri"/>
                <a:cs typeface="Calibri"/>
                <a:sym typeface="Calibri"/>
              </a:rPr>
              <a:t>Network Dataset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3"/>
          <p:cNvSpPr/>
          <p:nvPr/>
        </p:nvSpPr>
        <p:spPr>
          <a:xfrm>
            <a:off x="2382296" y="4000500"/>
            <a:ext cx="6282442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8.54M flows | 44 features | ZEEK/Bro captured | binary + multi-class labels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24" name="Google Shape;624;p23"/>
          <p:cNvSpPr/>
          <p:nvPr/>
        </p:nvSpPr>
        <p:spPr>
          <a:xfrm>
            <a:off x="365760" y="22860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What We Covered Today</a:t>
            </a:r>
            <a:endParaRPr sz="10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365760" y="960120"/>
            <a:ext cx="5029200" cy="45720"/>
          </a:xfrm>
          <a:prstGeom prst="rect">
            <a:avLst/>
          </a:prstGeom>
          <a:solidFill>
            <a:srgbClr val="00C9B1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46" name="Google Shape;646;p23"/>
          <p:cNvSpPr/>
          <p:nvPr/>
        </p:nvSpPr>
        <p:spPr>
          <a:xfrm>
            <a:off x="493776" y="1115568"/>
            <a:ext cx="8284464" cy="621792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1A30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47" name="Google Shape;647;p23"/>
          <p:cNvSpPr/>
          <p:nvPr/>
        </p:nvSpPr>
        <p:spPr>
          <a:xfrm>
            <a:off x="477207" y="1106995"/>
            <a:ext cx="55717" cy="621792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48" name="Google Shape;648;p23"/>
          <p:cNvSpPr/>
          <p:nvPr/>
        </p:nvSpPr>
        <p:spPr>
          <a:xfrm>
            <a:off x="714561" y="1220152"/>
            <a:ext cx="13991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BC3"/>
              </a:buClr>
              <a:buSzPts val="1000"/>
              <a:buFont typeface="Calibri"/>
              <a:buNone/>
            </a:pPr>
            <a:r>
              <a:rPr lang="en-US" b="1" i="0" u="none" strike="noStrike" cap="none" dirty="0">
                <a:solidFill>
                  <a:srgbClr val="1E8BC3"/>
                </a:solidFill>
                <a:latin typeface="+mj-lt"/>
                <a:ea typeface="Calibri"/>
                <a:cs typeface="Calibri"/>
                <a:sym typeface="Calibri"/>
              </a:rPr>
              <a:t>44 Features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3"/>
          <p:cNvSpPr/>
          <p:nvPr/>
        </p:nvSpPr>
        <p:spPr>
          <a:xfrm>
            <a:off x="2130278" y="1257300"/>
            <a:ext cx="6319361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Timestamps, IPs, ports, protocol, bytes, packets, DNS, HTTP, SSL, conn_state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3"/>
          <p:cNvSpPr/>
          <p:nvPr/>
        </p:nvSpPr>
        <p:spPr>
          <a:xfrm>
            <a:off x="468916" y="1810512"/>
            <a:ext cx="8309324" cy="621792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1A30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51" name="Google Shape;651;p23"/>
          <p:cNvSpPr/>
          <p:nvPr/>
        </p:nvSpPr>
        <p:spPr>
          <a:xfrm>
            <a:off x="468916" y="1810512"/>
            <a:ext cx="64008" cy="621792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52" name="Google Shape;652;p23"/>
          <p:cNvSpPr/>
          <p:nvPr/>
        </p:nvSpPr>
        <p:spPr>
          <a:xfrm>
            <a:off x="727219" y="1884235"/>
            <a:ext cx="1223025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BC3"/>
              </a:buClr>
              <a:buSzPts val="1000"/>
              <a:buFont typeface="Calibri"/>
              <a:buNone/>
            </a:pPr>
            <a:r>
              <a:rPr lang="en-US" b="1" i="0" u="none" strike="noStrike" cap="none" dirty="0">
                <a:solidFill>
                  <a:srgbClr val="1E8BC3"/>
                </a:solidFill>
                <a:latin typeface="+mj-lt"/>
                <a:ea typeface="Calibri"/>
                <a:cs typeface="Calibri"/>
                <a:sym typeface="Calibri"/>
              </a:rPr>
              <a:t>Time-Based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3"/>
          <p:cNvSpPr/>
          <p:nvPr/>
        </p:nvSpPr>
        <p:spPr>
          <a:xfrm>
            <a:off x="2114550" y="1933956"/>
            <a:ext cx="6335089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ts, duration, src_bytes/pkts, </a:t>
            </a:r>
            <a:r>
              <a:rPr lang="en-US" b="0" i="0" u="none" strike="noStrike" cap="none" dirty="0" err="1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missed_bytes</a:t>
            </a: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, history: each carrying attack signal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3"/>
          <p:cNvSpPr/>
          <p:nvPr/>
        </p:nvSpPr>
        <p:spPr>
          <a:xfrm>
            <a:off x="477206" y="2505456"/>
            <a:ext cx="8301033" cy="621792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1A30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55" name="Google Shape;655;p23"/>
          <p:cNvSpPr/>
          <p:nvPr/>
        </p:nvSpPr>
        <p:spPr>
          <a:xfrm>
            <a:off x="468916" y="2505456"/>
            <a:ext cx="64008" cy="621792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56" name="Google Shape;656;p23"/>
          <p:cNvSpPr/>
          <p:nvPr/>
        </p:nvSpPr>
        <p:spPr>
          <a:xfrm>
            <a:off x="606075" y="2532888"/>
            <a:ext cx="1527667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BC3"/>
              </a:buClr>
              <a:buSzPts val="1000"/>
              <a:buFont typeface="Calibri"/>
              <a:buNone/>
            </a:pPr>
            <a:r>
              <a:rPr lang="en-US" b="1" i="0" u="none" strike="noStrike" cap="none" dirty="0">
                <a:solidFill>
                  <a:srgbClr val="1E8BC3"/>
                </a:solidFill>
                <a:latin typeface="+mj-lt"/>
                <a:ea typeface="Calibri"/>
                <a:cs typeface="Calibri"/>
                <a:sym typeface="Calibri"/>
              </a:rPr>
              <a:t>9 Attack Types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3"/>
          <p:cNvSpPr/>
          <p:nvPr/>
        </p:nvSpPr>
        <p:spPr>
          <a:xfrm>
            <a:off x="2206893" y="2647188"/>
            <a:ext cx="6331032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DoS, DDoS, Backdoor, Injection, Scanning, MITM, Ransomware, XSS, Password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3"/>
          <p:cNvSpPr/>
          <p:nvPr/>
        </p:nvSpPr>
        <p:spPr>
          <a:xfrm>
            <a:off x="468915" y="3200400"/>
            <a:ext cx="8309323" cy="621792"/>
          </a:xfrm>
          <a:prstGeom prst="rect">
            <a:avLst/>
          </a:prstGeom>
          <a:solidFill>
            <a:srgbClr val="0F2044"/>
          </a:solidFill>
          <a:ln w="12700" cap="flat" cmpd="sng">
            <a:solidFill>
              <a:srgbClr val="1A30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63" name="Google Shape;663;p23"/>
          <p:cNvSpPr/>
          <p:nvPr/>
        </p:nvSpPr>
        <p:spPr>
          <a:xfrm>
            <a:off x="468916" y="3200400"/>
            <a:ext cx="64008" cy="621792"/>
          </a:xfrm>
          <a:prstGeom prst="rect">
            <a:avLst/>
          </a:prstGeom>
          <a:solidFill>
            <a:srgbClr val="1E8BC3"/>
          </a:solidFill>
          <a:ln w="12700" cap="flat" cmpd="sng">
            <a:solidFill>
              <a:srgbClr val="1E8B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64" name="Google Shape;664;p23"/>
          <p:cNvSpPr/>
          <p:nvPr/>
        </p:nvSpPr>
        <p:spPr>
          <a:xfrm>
            <a:off x="606075" y="3227832"/>
            <a:ext cx="1527667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BC3"/>
              </a:buClr>
              <a:buSzPts val="1000"/>
              <a:buFont typeface="Calibri"/>
              <a:buNone/>
            </a:pPr>
            <a:r>
              <a:rPr lang="en-US" b="1" i="0" u="none" strike="noStrike" cap="none" dirty="0">
                <a:solidFill>
                  <a:srgbClr val="1E8BC3"/>
                </a:solidFill>
                <a:latin typeface="+mj-lt"/>
                <a:ea typeface="Calibri"/>
                <a:cs typeface="Calibri"/>
                <a:sym typeface="Calibri"/>
              </a:rPr>
              <a:t>Research Scopes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3"/>
          <p:cNvSpPr/>
          <p:nvPr/>
        </p:nvSpPr>
        <p:spPr>
          <a:xfrm>
            <a:off x="2250280" y="3296412"/>
            <a:ext cx="5651849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3F8"/>
              </a:buClr>
              <a:buSzPts val="950"/>
              <a:buFont typeface="Calibri"/>
              <a:buNone/>
            </a:pPr>
            <a:r>
              <a:rPr lang="en-US" b="0" i="0" u="none" strike="noStrike" cap="none" dirty="0">
                <a:solidFill>
                  <a:srgbClr val="EEF3F8"/>
                </a:solidFill>
                <a:latin typeface="+mj-lt"/>
                <a:ea typeface="Calibri"/>
                <a:cs typeface="Calibri"/>
                <a:sym typeface="Calibri"/>
              </a:rPr>
              <a:t>IDS, feature engineering, GNN,, adversarial robustness, transfer learning</a:t>
            </a:r>
            <a:endParaRPr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3"/>
          <p:cNvSpPr/>
          <p:nvPr/>
        </p:nvSpPr>
        <p:spPr>
          <a:xfrm>
            <a:off x="365760" y="4590288"/>
            <a:ext cx="8412480" cy="384048"/>
          </a:xfrm>
          <a:prstGeom prst="rect">
            <a:avLst/>
          </a:prstGeom>
          <a:solidFill>
            <a:srgbClr val="1A3058"/>
          </a:solidFill>
          <a:ln w="12700" cap="flat" cmpd="sng">
            <a:solidFill>
              <a:srgbClr val="00C9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+mj-lt"/>
            </a:endParaRPr>
          </a:p>
        </p:txBody>
      </p:sp>
      <p:sp>
        <p:nvSpPr>
          <p:cNvPr id="667" name="Google Shape;667;p23"/>
          <p:cNvSpPr/>
          <p:nvPr/>
        </p:nvSpPr>
        <p:spPr>
          <a:xfrm>
            <a:off x="502920" y="46451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B1"/>
              </a:buClr>
              <a:buSzPts val="900"/>
              <a:buFont typeface="Calibri"/>
              <a:buNone/>
            </a:pPr>
            <a:r>
              <a:rPr lang="en-US" sz="1000" b="0" i="1" u="none" strike="noStrike" cap="none" dirty="0">
                <a:solidFill>
                  <a:srgbClr val="00B0F0"/>
                </a:solidFill>
                <a:latin typeface="+mj-lt"/>
                <a:ea typeface="Calibri"/>
                <a:cs typeface="Calibri"/>
                <a:sym typeface="Calibri"/>
              </a:rPr>
              <a:t>📂 Dataset: </a:t>
            </a:r>
            <a:r>
              <a:rPr lang="en-US" sz="1000" b="0" i="1" u="none" strike="noStrike" cap="none" dirty="0">
                <a:solidFill>
                  <a:srgbClr val="00B0F0"/>
                </a:solidFill>
                <a:latin typeface="+mj-lt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https://research.unsw.edu.au/projects/toniot-datasets</a:t>
            </a:r>
            <a:r>
              <a:rPr lang="en-US" sz="1000" b="0" i="1" u="none" strike="noStrike" cap="none" dirty="0">
                <a:solidFill>
                  <a:srgbClr val="00B0F0"/>
                </a:solidFill>
                <a:latin typeface="+mj-lt"/>
                <a:ea typeface="Calibri"/>
                <a:cs typeface="Calibri"/>
                <a:sym typeface="Calibri"/>
              </a:rPr>
              <a:t>   |  Cite: </a:t>
            </a:r>
            <a:r>
              <a:rPr lang="en-US" sz="1000" b="0" i="1" u="none" strike="noStrike" cap="none" dirty="0" err="1">
                <a:solidFill>
                  <a:srgbClr val="00B0F0"/>
                </a:solidFill>
                <a:latin typeface="+mj-lt"/>
                <a:ea typeface="Calibri"/>
                <a:cs typeface="Calibri"/>
                <a:sym typeface="Calibri"/>
              </a:rPr>
              <a:t>Moustafa</a:t>
            </a:r>
            <a:r>
              <a:rPr lang="en-US" sz="1000" b="0" i="1" u="none" strike="noStrike" cap="none" dirty="0">
                <a:solidFill>
                  <a:srgbClr val="00B0F0"/>
                </a:solidFill>
                <a:latin typeface="+mj-lt"/>
                <a:ea typeface="Calibri"/>
                <a:cs typeface="Calibri"/>
                <a:sym typeface="Calibri"/>
              </a:rPr>
              <a:t>, N. (2021). Sustainable Cities and Society.</a:t>
            </a:r>
            <a:endParaRPr sz="1000" b="0" i="0" u="none" strike="noStrike" cap="none" dirty="0">
              <a:solidFill>
                <a:srgbClr val="00B0F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0246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">
            <a:extLst>
              <a:ext uri="{FF2B5EF4-FFF2-40B4-BE49-F238E27FC236}">
                <a16:creationId xmlns:a16="http://schemas.microsoft.com/office/drawing/2014/main" id="{C5E6DD75-A175-433D-8A86-1C1B3F249E91}"/>
              </a:ext>
            </a:extLst>
          </p:cNvPr>
          <p:cNvSpPr txBox="1"/>
          <p:nvPr/>
        </p:nvSpPr>
        <p:spPr>
          <a:xfrm>
            <a:off x="2248828" y="1590530"/>
            <a:ext cx="3944804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4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0DEECB76-C2A9-4D66-B343-7F2C42C2B748}"/>
              </a:ext>
            </a:extLst>
          </p:cNvPr>
          <p:cNvSpPr/>
          <p:nvPr/>
        </p:nvSpPr>
        <p:spPr>
          <a:xfrm>
            <a:off x="5599037" y="557933"/>
            <a:ext cx="1175496" cy="1175496"/>
          </a:xfrm>
          <a:custGeom>
            <a:avLst/>
            <a:gdLst/>
            <a:ahLst/>
            <a:cxnLst/>
            <a:rect l="l" t="t" r="r" b="b"/>
            <a:pathLst>
              <a:path w="1175496" h="1175496">
                <a:moveTo>
                  <a:pt x="0" y="0"/>
                </a:moveTo>
                <a:lnTo>
                  <a:pt x="1175497" y="0"/>
                </a:lnTo>
                <a:lnTo>
                  <a:pt x="1175497" y="1175497"/>
                </a:lnTo>
                <a:lnTo>
                  <a:pt x="0" y="117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4">
            <a:extLst>
              <a:ext uri="{FF2B5EF4-FFF2-40B4-BE49-F238E27FC236}">
                <a16:creationId xmlns:a16="http://schemas.microsoft.com/office/drawing/2014/main" id="{FC7A570E-4807-4F3A-8A57-0E08F35A9FCE}"/>
              </a:ext>
            </a:extLst>
          </p:cNvPr>
          <p:cNvSpPr/>
          <p:nvPr/>
        </p:nvSpPr>
        <p:spPr>
          <a:xfrm>
            <a:off x="5780057" y="699173"/>
            <a:ext cx="827150" cy="908048"/>
          </a:xfrm>
          <a:custGeom>
            <a:avLst/>
            <a:gdLst/>
            <a:ahLst/>
            <a:cxnLst/>
            <a:rect l="l" t="t" r="r" b="b"/>
            <a:pathLst>
              <a:path w="827150" h="908048">
                <a:moveTo>
                  <a:pt x="0" y="0"/>
                </a:moveTo>
                <a:lnTo>
                  <a:pt x="827150" y="0"/>
                </a:lnTo>
                <a:lnTo>
                  <a:pt x="827150" y="908049"/>
                </a:lnTo>
                <a:lnTo>
                  <a:pt x="0" y="908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22837351-AFAB-4442-87C2-7CB203B24BFD}"/>
              </a:ext>
            </a:extLst>
          </p:cNvPr>
          <p:cNvSpPr txBox="1"/>
          <p:nvPr/>
        </p:nvSpPr>
        <p:spPr>
          <a:xfrm>
            <a:off x="4729162" y="4154680"/>
            <a:ext cx="3868077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 Free to ask Questions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391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</TotalTime>
  <Words>3793</Words>
  <Application>Microsoft Office PowerPoint</Application>
  <PresentationFormat>On-screen Show (16:9)</PresentationFormat>
  <Paragraphs>582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Teresa Jency Bala</dc:creator>
  <cp:lastModifiedBy>CSE LAB 2026</cp:lastModifiedBy>
  <cp:revision>70</cp:revision>
  <dcterms:modified xsi:type="dcterms:W3CDTF">2026-04-22T04:51:40Z</dcterms:modified>
</cp:coreProperties>
</file>